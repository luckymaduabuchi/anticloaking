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54864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  <a:latin typeface="Calibri"/>
              </a:rPr>
              <a:t>PROACTIVE AUDIO CLOAKING AGAINST VOICE CLONING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Imperceptibility vs. Protective Efficacy:</a:t>
            </a:r>
          </a:p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A Multi-Technique, Demographically Balanced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C4D6"/>
                </a:solidFill>
                <a:latin typeface="Calibri"/>
              </a:rPr>
              <a:t>POP  •  attack-vc  •  AntiFake   |   SV2TTS  •  Seed-VC  •  F5-TTS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4,867 recordings  •  3 corpora (LibriSpeech, ASVspoof 2021, FakeAVCeleb)  •  10 descent×gender groups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Agenda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7E22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463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317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7E22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3774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Dataset &amp; Evaluation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7E22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2918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Speaker Verifiers &amp; Downstream Synthesizers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7E22"/>
                </a:solidFill>
                <a:latin typeface="Calibr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42062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Cloaking Techniques: POP, attack-vc, AntiFake, ProtectYourAudio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0749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7E22"/>
                </a:solidFill>
                <a:latin typeface="Calibri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1206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Imperceptibility Results (+ descent/gender)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4173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7E22"/>
                </a:solidFill>
                <a:latin typeface="Calibri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599" y="14630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Protective-Efficacy Results (+ descent/gender)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3317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7E22"/>
                </a:solidFill>
                <a:latin typeface="Calibri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23774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Why Is Seed-VC Different? (embedding-probe ablation)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32461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7E22"/>
                </a:solidFill>
                <a:latin typeface="Calibri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599" y="32918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Theoretical Framework: Cloaking &amp; Restoration as 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41605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7E22"/>
                </a:solidFill>
                <a:latin typeface="Calibri"/>
              </a:rPr>
              <a:t>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599" y="42062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Can Protective Efficacy Be Reversed? (restoration study)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50749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67E22"/>
                </a:solidFill>
                <a:latin typeface="Calibri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86599" y="51206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2A4A"/>
                </a:solidFill>
                <a:latin typeface="Calibri"/>
              </a:rPr>
              <a:t>Cross-Technique Summary &amp; Conclusions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AntiFake2026 Project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67E22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C4D6"/>
                </a:solidFill>
                <a:latin typeface="Calibri"/>
              </a:rPr>
              <a:t>Why proactive audio cloaking, and what this evaluation actually measures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3429000"/>
            <a:ext cx="3246120" cy="0"/>
          </a:xfrm>
          <a:prstGeom prst="line">
            <a:avLst/>
          </a:prstGeom>
          <a:ln w="381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The Threat: Zero-Shot Voice Cloning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55778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2E86C1"/>
                </a:solidFill>
                <a:latin typeface="Calibri"/>
              </a:rPr>
              <a:t>■  Modern zero-shot TTS/VC systems clone a speaker's identity from only a few seconds of reference audio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50" b="0">
                <a:solidFill>
                  <a:srgbClr val="1B2A4A"/>
                </a:solidFill>
                <a:latin typeface="Calibri"/>
              </a:rPr>
              <a:t>–  No speaker-specific fine-tuning required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50" b="0">
                <a:solidFill>
                  <a:srgbClr val="1B2A4A"/>
                </a:solidFill>
                <a:latin typeface="Calibri"/>
              </a:rPr>
              <a:t>–  Enables fraud via cloned voices, non-consensual synthetic media, bypassing voice authentication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2E86C1"/>
                </a:solidFill>
                <a:latin typeface="Calibri"/>
              </a:rPr>
              <a:t>■  Two families of countermeasure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50" b="0">
                <a:solidFill>
                  <a:srgbClr val="1B2A4A"/>
                </a:solidFill>
                <a:latin typeface="Calibri"/>
              </a:rPr>
              <a:t>–  Reactive: detect deepfake audio after the fact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50" b="0">
                <a:solidFill>
                  <a:srgbClr val="1B2A4A"/>
                </a:solidFill>
                <a:latin typeface="Calibri"/>
              </a:rPr>
              <a:t>–  Proactive (“cloaking”): perturb the speaker's recording BEFORE an attacker ever gets clean audio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2E86C1"/>
                </a:solidFill>
                <a:latin typeface="Calibri"/>
              </a:rPr>
              <a:t>■  This project's contribution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50" b="0">
                <a:solidFill>
                  <a:srgbClr val="1B2A4A"/>
                </a:solidFill>
                <a:latin typeface="Calibri"/>
              </a:rPr>
              <a:t>–  Reproduce 4 cloaking defenses end-to-end, from official source, on identical hardware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50" b="0">
                <a:solidFill>
                  <a:srgbClr val="1B2A4A"/>
                </a:solidFill>
                <a:latin typeface="Calibri"/>
              </a:rPr>
              <a:t>–  Same dataset, same verifiers, same synthesizers — so differences are not artifacts of setup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50" b="0">
                <a:solidFill>
                  <a:srgbClr val="1B2A4A"/>
                </a:solidFill>
                <a:latin typeface="Calibri"/>
              </a:rPr>
              <a:t>–  First large-scale demographic (descent × gender) audit of cloaking effectiveness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50" b="1">
                <a:solidFill>
                  <a:srgbClr val="1B2A4A"/>
                </a:solidFill>
                <a:latin typeface="Calibri"/>
              </a:rPr>
              <a:t>–  Distinguish two properties every cloak paper conflates: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4206240"/>
            <a:ext cx="2286000" cy="128016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2E86C1"/>
                </a:solidFill>
                <a:latin typeface="Calibri"/>
              </a:rPr>
              <a:t>Imperceptibility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Does the cloaked clip
still sound like the
real speaker?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40" y="4206240"/>
            <a:ext cx="2286000" cy="128016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E67E22"/>
                </a:solidFill>
                <a:latin typeface="Calibri"/>
              </a:rPr>
              <a:t>Protective
Efficacy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Does a clone MADE FROM
the cloaked clip still
sound like them?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1 — 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Imperceptibility ≠ Protective Efficacy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D6D7E"/>
                </a:solidFill>
                <a:latin typeface="Calibri"/>
              </a:rPr>
              <a:t>The central methodological distinction of this project — conflating the two is the most common gap in the cloaking literature.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91840"/>
                <a:gridCol w="3200400"/>
                <a:gridCol w="2743200"/>
              </a:tblGrid>
              <a:tr h="60960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compared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“Success” looks like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it tells you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Imperceptibility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Cloaked clip  vs.  genuine original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Verifies as SAME speaker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(low EER, high TAR@FAR)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Cloak avoids being flagged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on its own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Protective</a:t>
                      </a:r>
                    </a:p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Efficacy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Clone MADE FROM cloaked clip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vs.  genuine original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Verifies as DIFFERENT speaker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(high EER, low TAR@FAR)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Cloak actually stopped a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downstream cloning attacker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25196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A cloak can pass every imperceptibility check while doing almost nothing to stop a downstream attacker (POP, attack-vc vs. Seed-VC)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...or fail imperceptibility outright while being the most protective technique tested (AntiFake)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This project reports BOTH for every technique — no prior cloaking paper in our comparison set does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1 —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67E22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Dataset &amp; Evaluation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C4D6"/>
                </a:solidFill>
                <a:latin typeface="Calibri"/>
              </a:rPr>
              <a:t>4,867 recordings, 3 corpora, demographically balanced, harmonized trial construction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3429000"/>
            <a:ext cx="3246120" cy="0"/>
          </a:xfrm>
          <a:prstGeom prst="line">
            <a:avLst/>
          </a:prstGeom>
          <a:ln w="381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Corpus Composition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88720"/>
                <a:gridCol w="1188720"/>
                <a:gridCol w="2194560"/>
                <a:gridCol w="4114800"/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Source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Men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Women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Total (# speakers)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Why included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LibriSpeech</a:t>
                      </a:r>
                    </a:p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(train-clean-100)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—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—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500 (207)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Clean, ideal-condition baseline;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most-used TTS/VC benchmark corpus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ASVspoof 2021</a:t>
                      </a:r>
                    </a:p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(LA, bonafide)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—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—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500 (62)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Telephony-channel degradation;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tests robustness to codec artifacts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FakeAVCeleb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1,897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1,970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3,867 (500)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Only corpus with descent/gender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metadata — enables fairness audit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4069080"/>
            <a:ext cx="2651760" cy="118872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2E86C1"/>
                </a:solidFill>
                <a:latin typeface="Calibri"/>
              </a:rPr>
              <a:t>4,867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total recordings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4069080"/>
            <a:ext cx="2651760" cy="118872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2E86C1"/>
                </a:solidFill>
                <a:latin typeface="Calibri"/>
              </a:rPr>
              <a:t>769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unique speakers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4069080"/>
            <a:ext cx="2651760" cy="118872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2E86C1"/>
                </a:solidFill>
                <a:latin typeface="Calibri"/>
              </a:rPr>
              <a:t>5 × 2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descent groups × genders
(FakeAVCeleb)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4069080"/>
            <a:ext cx="2651760" cy="118872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2E86C1"/>
                </a:solidFill>
                <a:latin typeface="Calibri"/>
              </a:rPr>
              <a:t>3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source corpora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D6D7E"/>
                </a:solidFill>
                <a:latin typeface="Calibri"/>
              </a:rPr>
              <a:t>Descent groups: African, Asian (East), Asian (South), Caucasian (American), Caucasian (European)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2 —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Trial-Construction Protocol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D6D7E"/>
                </a:solidFill>
                <a:latin typeface="Calibri"/>
              </a:rPr>
              <a:t>A verification score is meaningless in isolation — it must be compared against real impostors, not just the genuine pair.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2E86C1"/>
                </a:solidFill>
                <a:latin typeface="Calibri"/>
              </a:rPr>
              <a:t>■  Genuine trial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50" b="0">
                <a:solidFill>
                  <a:srgbClr val="1B2A4A"/>
                </a:solidFill>
                <a:latin typeface="Calibri"/>
              </a:rPr>
              <a:t>–  Cloaked/cloned clip vs. the SAME speaker's real recording → label = 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2E86C1"/>
                </a:solidFill>
                <a:latin typeface="Calibri"/>
              </a:rPr>
              <a:t>■  Impostor trials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50" b="0">
                <a:solidFill>
                  <a:srgbClr val="1B2A4A"/>
                </a:solidFill>
                <a:latin typeface="Calibri"/>
              </a:rPr>
              <a:t>–  Same clip vs. 10 OTHER randomly drawn speakers' real recordings → label = 0 (×10)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550" b="0">
                <a:solidFill>
                  <a:srgbClr val="1B2A4A"/>
                </a:solidFill>
                <a:latin typeface="Calibri"/>
              </a:rPr>
              <a:t>–  Fixed seed for reproducibility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148840"/>
            <a:ext cx="2377440" cy="118872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2E86C1"/>
                </a:solidFill>
                <a:latin typeface="Calibri"/>
              </a:rPr>
              <a:t>4,867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genuine trials
per technique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2148840"/>
            <a:ext cx="2377440" cy="118872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2E86C1"/>
                </a:solidFill>
                <a:latin typeface="Calibri"/>
              </a:rPr>
              <a:t>48,670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impostor trials
per technique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611880"/>
            <a:ext cx="49377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Every metric (EER, ROC-AUC, minDCF, TAR@FAR, d′) is a function of BOTH distributions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Large enough to estimate low-FAR operating points down to 0.01% FAR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2 —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67E22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Speaker Verifiers &amp; Synthesizers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C4D6"/>
                </a:solidFill>
                <a:latin typeface="Calibri"/>
              </a:rPr>
              <a:t>3 independent verification back-ends × 3 downstream cloning systems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3429000"/>
            <a:ext cx="3246120" cy="0"/>
          </a:xfrm>
          <a:prstGeom prst="line">
            <a:avLst/>
          </a:prstGeom>
          <a:ln w="381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Three Speaker-Verification Back-Ends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931920"/>
                <a:gridCol w="4937760"/>
              </a:tblGrid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Embedding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Why included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SpeechBrain</a:t>
                      </a:r>
                    </a:p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ECAPA-TDNN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192-d channel-attention TDNN,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trained on VoxCeleb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De facto standard; the white-box/surrogate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target of AntiFake and attack-vc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Resemblyzer</a:t>
                      </a:r>
                    </a:p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(GE2E d-vector)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256-d LSTM d-vector,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generalized end-to-end loss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Surrogate encoder inside ProtectYourAudio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and AUTOVC-style VC systems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WavLM x-vector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512-d x-vector over WavLM-base-plus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self-supervised features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Architecturally unrelated to all cloak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surrogates — black-box generalization test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3434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D6D7E"/>
                </a:solidFill>
                <a:latin typeface="Calibri"/>
              </a:rPr>
              <a:t>Never ensembled — scored fully independently, so a cloak that fools one embedding space but not another is never over/understated.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3 — Verifiers &amp; Synthesizers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Three Downstream Cloning/Conversion Systems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94560"/>
                <a:gridCol w="3291840"/>
                <a:gridCol w="402336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Identity conditioning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Rationale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SV2TTS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Zero-shot TTS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GE2E LSTM d-vector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(256-d, discrete encoder)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Foundational architecture;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AntiFake/ProtectYourAudio's own target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F5-TTS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Zero-shot TTS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(flow-matching)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NO discrete encoder —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in-context mel conditioning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State-of-the-art; stronger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speaker-similarity than SV2TTS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Seed-VC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Voice conversion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CAMPPlus (D-TDNN, 192-d,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discrete encoder)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Not TTS — several cloaks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(attack-vc) target VC specifically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43484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E86C1"/>
                </a:solidFill>
                <a:latin typeface="Calibri"/>
              </a:rPr>
              <a:t>■  Fixed synthesis prompt for BOTH TTS systems — only cloned identity varies, never linguistic content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E86C1"/>
                </a:solidFill>
                <a:latin typeface="Calibri"/>
              </a:rPr>
              <a:t>■  Seed-VC uses a fixed source clip for content, varying only the target-timbre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3 — Verifiers &amp; Synthesizers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67E22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Cloaking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C4D6"/>
                </a:solidFill>
                <a:latin typeface="Calibri"/>
              </a:rPr>
              <a:t>POP · attack-vc · AntiFake · ProtectYourAudio — mechanism, threat model, and how each was reproduced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3429000"/>
            <a:ext cx="3246120" cy="0"/>
          </a:xfrm>
          <a:prstGeom prst="line">
            <a:avLst/>
          </a:prstGeom>
          <a:ln w="381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CLOAKING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Four Mechanistically Different Attacks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377440"/>
                <a:gridCol w="7132320"/>
              </a:tblGrid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Technique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Threat model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Mechanism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POP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Training-time</a:t>
                      </a:r>
                    </a:p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(unlearnable audio)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PGD minimizing a pretrained VITS surrogate's OWN</a:t>
                      </a:r>
                    </a:p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mel-reconstruction loss; ε=8/255, 200 iterations.</a:t>
                      </a:r>
                    </a:p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Surrogate has NO speaker encoder — a closed</a:t>
                      </a:r>
                    </a:p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lookup table over 50 fixed training speakers.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attack-vc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Inference-time</a:t>
                      </a:r>
                    </a:p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(VC spoofing)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Decoy-target PGD; embedding-attack variant against</a:t>
                      </a:r>
                    </a:p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AdaIN-VC's own bespoke conv-bank speaker encoder</a:t>
                      </a:r>
                    </a:p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(perturbs input directly, no full forward pass needed).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AntiFake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Inference-time</a:t>
                      </a:r>
                    </a:p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(TTS/VC spoofing,</a:t>
                      </a:r>
                    </a:p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ensemble)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Decoy-target PGD optimized JOINTLY against 3</a:t>
                      </a:r>
                    </a:p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surrogate encoders (RTVC, AutoVC, Coqui YourTTS)</a:t>
                      </a:r>
                    </a:p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for black-box transferability.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ProtectYourAudio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Inference-time</a:t>
                      </a:r>
                    </a:p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(VC spoofing)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Greedy discrete search over frequency-band masking</a:t>
                      </a:r>
                    </a:p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operations, budgeted against a perceptual-similarity</a:t>
                      </a:r>
                    </a:p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constraint; targets a VC model's reconstruction</a:t>
                      </a:r>
                    </a:p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quality rather than a speaker-embedding distance.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D6D7E"/>
                </a:solidFill>
                <a:latin typeface="Calibri"/>
              </a:rPr>
              <a:t>All reproduced end-to-end from official public source code on identical, shared hardware — not re-using each paper's own reported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4 — Cloaking Techniques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CLOAKING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Corpus Coverage &amp; Engineering Obstacles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417320"/>
            <a:ext cx="2651760" cy="118872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2E86C1"/>
                </a:solidFill>
                <a:latin typeface="Calibri"/>
              </a:rPr>
              <a:t>4,864 / 4,867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POP — 3 excluded
(Whisper hallucination)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417320"/>
            <a:ext cx="2651760" cy="118872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2E86C1"/>
                </a:solidFill>
                <a:latin typeface="Calibri"/>
              </a:rPr>
              <a:t>4,863 / 4,867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attack-vc — 4 excluded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417320"/>
            <a:ext cx="2651760" cy="118872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2E86C1"/>
                </a:solidFill>
                <a:latin typeface="Calibri"/>
              </a:rPr>
              <a:t>4,844 / 4,867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AntiFake — 21 permanent
failures, 2 unattempted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78240" y="1417320"/>
            <a:ext cx="2651760" cy="118872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2E86C1"/>
                </a:solidFill>
                <a:latin typeface="Calibri"/>
              </a:rPr>
              <a:t>4,850 / 4,867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ProtectYourAudio — 16
permanent failures, 1 unattempted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71800"/>
            <a:ext cx="11064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AntiFake's 3-encoder ensemble needed a hardware upgrade (4GB → 12GB vGPU) — originally OOM'd before a single optimization step ran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450" b="0">
                <a:solidFill>
                  <a:srgbClr val="1B2A4A"/>
                </a:solidFill>
                <a:latin typeface="Calibri"/>
              </a:rPr>
              <a:t>–  Verified as a genuine hardware limit (reproduced on an idle GPU), not a software bug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POP's reference implementation silently DROPS training examples whose phonemized transcript exceeds a fixed length — no warning, stalls unattended batch jobs indefinitely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450" b="0">
                <a:solidFill>
                  <a:srgbClr val="1B2A4A"/>
                </a:solidFill>
                <a:latin typeface="Calibri"/>
              </a:rPr>
              <a:t>–  Fixed by raising the threshold; excluded only genuine ASR-hallucination failures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None of the four techniques' reference implementations are robust to a shared, memory-constrained GPU — transient CUDA OOM/cuDNN errors had to be disambiguated from genuine per-file failures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4 — Cloaking Techniques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67E22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Imperceptibility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C4D6"/>
                </a:solidFill>
                <a:latin typeface="Calibri"/>
              </a:rPr>
              <a:t>Does the cloaked clip still verify as the genuine speaker, on its own?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3429000"/>
            <a:ext cx="3246120" cy="0"/>
          </a:xfrm>
          <a:prstGeom prst="line">
            <a:avLst/>
          </a:prstGeom>
          <a:ln w="381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IMPERCEPTIBILITY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Pooled Results — All Four Techniques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011680"/>
                <a:gridCol w="2011680"/>
                <a:gridCol w="2011680"/>
                <a:gridCol w="3291840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</a:rPr>
                        <a:t>Technique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SB-ECAPA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EER / TAR@1%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Resemblyzer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EER / TAR@1%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WavLM</a:t>
                      </a:r>
                    </a:p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EER / TAR@1%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STOI / PESQ / SI-SDR(dB)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POP</a:t>
                      </a:r>
                    </a:p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(4,864 clips)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0.07% / 100.0%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0.14% / 100.0%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0.16% / 100.0%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0.971 / 2.92 / +16.3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attack-vc</a:t>
                      </a:r>
                    </a:p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(4,863 clips)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0.10% / 99.96%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0.08% / 99.96%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2.08% / 96.88%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0.547 / 3.58 / −34.0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AntiFake</a:t>
                      </a:r>
                    </a:p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(4,844 clips)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47.81% / 21.2%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65.87% / 5.08%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22.29% / 25.19%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0.703 / 1.46 / +1.9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ProtectYourAudio</a:t>
                      </a:r>
                    </a:p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(4,850 clips)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0.10% / 100.0%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0.07% / 100.0%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2.05% / 96.19%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0.941 / 3.48 / −25.4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34340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POP, attack-vc &amp; ProtectYourAudio: near-perfect imperceptibility (EER ≤ 2.1%) — exactly what a training-/inference-time cloak is designed for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AntiFake: imperceptibility FAILS outright (EER 22–66%) — roughly two orders of magnitude worse than the other three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ProtectYourAudio's EER/TAR track attack-vc's almost exactly despite being mechanistically unrelated (discrete frequency-masking search vs. continuous embedding attack) — but its quality profile is its own: POP-level STOI (0.94) paired with attack-vc-level negative SI-SDR (−25.4dB)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5 — Imperceptibility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IMPERCEPTIBILITY —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POP: EER by Descent × Gender (FakeAVCeleb)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5486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Mean EER (avg. of 3 verifiers)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Men (avg.)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≈ 0.06%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Women (avg.)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≈ 0.08%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All 10 groups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0.03%–0.28%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Lowest TAR@1%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94.66% (Asian East, men, WavLM)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2nd lowest TAR@1%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96.50% (Caucasian European, men, SB-ECAPA)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4173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Imperceptibility holds UNIFORMLY across every descent × gender group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No demographic group stands out as disproportionately easier or harder to re-identify after cloaking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The only two departures from 100% TAR@1%FAR remain far closer to “trivially re-identifiable” than to the uncloaked FakeAVCeleb calibration ceiling (11–15%)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→ no meaningful demographic disparity in imperceptibility for POP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Imperceptibility — Demographics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IMPERCEPTIBILITY —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attack-vc: EER by Descent × Gender (FakeAVCeleb)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5486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Mean EER (avg. of 3 verifiers)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Men (avg.)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≈ 0.10%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Women (avg.)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≈ 0.13%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All 10 groups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0.03%–0.72%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Cells below 100% TAR@1%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12 of 30 (range 96.2–99.8%)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WavLM at 100% in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4 of 10 groups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4173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More SCATTERED than POP across verifiers/groups — SB-ECAPA drops in 5 groups, WavLM in 6, Resemblyzer in only 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Still far closer to POP's near-ceiling regime than to the uncloaked baseline (11–15% TAR@1%)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This scatter is noise within an already-near-perfect result — not a sign of demographic bias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Imperceptibility — Demographics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IMPERCEPTIBILITY —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AntiFake: EER by Descent × Gender (FakeAVCeleb)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5486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</a:tblGrid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Mean EER (avg. of 3 verifiers)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Men (avg.)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46.84%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Women (avg.)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50.70%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African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46.13%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Asian (East)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46.85%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Asian (South)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45.21%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Caucasian (American)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53.15%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Caucasian (European)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52.50%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4173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Women consistently HIGHER EER than men — but here that means WORSE imperceptibility, not better protection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Caucasian groups show the WORST imperceptibility of all five descent groups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Interpretation flips vs. POP/attack-vc: a higher EER here means the cloak fails its OWN design goal more badly for these speakers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This exact ordering reappears in protective efficacy — same underlying displacement mechanism (see Section 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Imperceptibility — Demographics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IMPERCEPTIBILITY —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ProtectYourAudio: EER by Descent × Gender (FakeAVCeleb)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5486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</a:tblGrid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Mean EER (avg. of 3 verifiers)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Men (avg.)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≈ 0.51%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Women (avg.)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≈ 0.49%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All 10 groups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0.29%–0.64%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Cells below 100% TAR@1% (SB/RB)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2 of 20 (both Resemblyzer, men)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Lowest TAR@1%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75.63% (Caucasian European, men, Resemblyzer)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41732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The most UNIFORM technique in this project — SB-ECAPA hits exactly 100% TAR@1% in all 10 groups; WavLM never drops below 92.9%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Resemblyzer is the one exception, concentrated in two groups (both men) — possibly linked to Resemblyzer being ProtectYourAudio's own surrogate encoder, but not confirmed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Even this most-scattered cell remains far closer to near-ceiling imperceptibility than to the uncloaked baseline (11–15% TAR@1%)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Imperceptibility — Demographics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67E22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Protective-Efficacy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C4D6"/>
                </a:solidFill>
                <a:latin typeface="Calibri"/>
              </a:rPr>
              <a:t>Does a CLONE made from the cloaked audio still verify as the genuine speaker?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3429000"/>
            <a:ext cx="3246120" cy="0"/>
          </a:xfrm>
          <a:prstGeom prst="line">
            <a:avLst/>
          </a:prstGeom>
          <a:ln w="381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PROTECTIVE EFFICACY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POP: Clean-Audio Ceiling vs. POP-Cloaked Source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286000"/>
                <a:gridCol w="2468880"/>
                <a:gridCol w="2468880"/>
                <a:gridCol w="2103120"/>
              </a:tblGrid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Verifier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Clean ceiling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EER / TAR@1%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POP-cloaked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EER / TAR@1%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Relative EER Δ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SV2TTS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SB-ECAPA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19.75% / 38.2%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20.51% / 36.5%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SV2TTS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Resemblyzer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9.21% / 69.8%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10.22% / 67.8%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+11%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SV2TTS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WavLM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18.85% / 22.4%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19.26% / 22.3%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Seed-VC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SB-ECAPA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3.11% / 93.2%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3.59% / 91.7%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+15%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Seed-VC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Resemblyzer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4.99% / 84.4%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5.31% / 82.3%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Seed-VC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WavLM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16.01% / 25.1%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16.74% / 24.6%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F5-TTS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SB-ECAPA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1.66% / 97.7%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2.56% / 96.1%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+54%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F5-TTS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Resemblyzer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2.23% / 96.3%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2.51% / 95.7%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+13%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374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F5-TTS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WavLM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9.24% / 66.6%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10.92% / 60.3%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+18%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6 — Protective Efficacy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PROTECTIVE EFFICACY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POP: System-Dependent Protection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417320"/>
            <a:ext cx="3566160" cy="201168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5D6D7E"/>
                </a:solidFill>
                <a:latin typeface="Calibri"/>
              </a:rPr>
              <a:t>MARGINAL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SV2TTS
EER up only 2–11% relative
TAR@1% down 2–5%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17320"/>
            <a:ext cx="3566160" cy="201168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5D6D7E"/>
                </a:solidFill>
                <a:latin typeface="Calibri"/>
              </a:rPr>
              <a:t>MARGINAL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Seed-VC
EER up only 5–15%
(run-to-run noise range)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417320"/>
            <a:ext cx="3566160" cy="201168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E67E22"/>
                </a:solidFill>
                <a:latin typeface="Calibri"/>
              </a:rPr>
              <a:t>IN-BETWEEN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F5-TTS
EER up 13–54%,
but TAR@1% barely moves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9476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2E86C1"/>
                </a:solidFill>
                <a:latin typeface="Calibri"/>
              </a:rPr>
              <a:t>■  POP has only a marginal effect against every downstream attacker tested, including zero-shot TTS — weakest and most system-dependent of the four cloaks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E86C1"/>
                </a:solidFill>
                <a:latin typeface="Calibri"/>
              </a:rPr>
              <a:t>■  SV2TTS EER increase is statistically significant on SB-ECAPA/Resemblyzer but tiny in absolute terms (2–11% relative); WavLM is not even significant (p=0.118)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2E86C1"/>
                </a:solidFill>
                <a:latin typeface="Calibri"/>
              </a:rPr>
              <a:t>■  Initial hypothesis (POP's VITS surrogate transfers better to TTS attackers) does not hold cleanly once measured on the full, matched corpus — tested directly in the embedding-probe ablation (Section 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6 — Protective Efficacy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PROTECTIVE EFFICACY —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POP: Mean EER by Group, Ceiling vs. Cloaked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017520"/>
                <a:gridCol w="3017520"/>
                <a:gridCol w="28346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SV2TTS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Ceiling / Cloaked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Seed-VC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Ceiling / Cloaked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F5-TTS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Ceiling / Cloaked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Men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14.56% / 15.10%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7.02% / 7.59%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3.43% / 4.99%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Women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19.11% / 20.02%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9.04% / 9.25%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4.47% / 5.52%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African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17.34% / 17.90%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9.33% / 9.20%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5.36% / 6.49%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Asian (East)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15.49% / 16.94%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7.92% / 7.96%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5.95% / 6.70%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Asian (South)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21.11% / 21.37%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10.21% / 10.88%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3.40% / 6.08%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Caucasian (Am.)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14.39% / 15.47%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6.42% / 7.06%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1.85% / 2.50%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Caucasian (Eu.)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15.85% / 16.11%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6.29% / 7.01%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3.21% / 4.51%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E86C1"/>
                </a:solidFill>
                <a:latin typeface="Calibri"/>
              </a:rPr>
              <a:t>■  Disparity PREDATES POP entirely — same ordering already exists in the clean-audio ceiling column, for every system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E86C1"/>
                </a:solidFill>
                <a:latin typeface="Calibri"/>
              </a:rPr>
              <a:t>■  POP widens the pre-existing gender gap only modestly for SV2TTS (4.55 → 4.92 points) but did not create it — inherited from the downstream pipeline, not the cloak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6 — Protective Efficacy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PROTECTIVE EFFICACY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attack-vc: Clean-Audio Ceiling vs. Cloaked Source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286000"/>
                <a:gridCol w="2468880"/>
                <a:gridCol w="2468880"/>
                <a:gridCol w="2103120"/>
              </a:tblGrid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Verifier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Clean ceiling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EER / TAR@1%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attack-vc-cloaked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EER / TAR@1%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Relative EER Δ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SV2TTS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SB-ECAPA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19.74% / 38.1%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21.06% / 35.1%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SV2TTS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Resemblyzer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9.22% / 69.8%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10.69% / 65.0%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+16%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SV2TTS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WavLM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18.86% / 22.5%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19.17% / 21.3%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Seed-VC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SB-ECAPA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3.11% / 93.2%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3.29% / 92.4%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Seed-VC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Resemblyzer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4.99% / 84.4%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5.08% / 83.3%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Seed-VC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WavLM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16.01% / 25.1%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16.61% / 25.0%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F5-TTS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SB-ECAPA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1.66% / 97.7%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2.12% / 97.0%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+28%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F5-TTS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Resemblyzer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2.23% / 96.3%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2.69% / 95.7%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+21%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374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F5-TTS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WavLM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9.24% / 66.6%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10.14% / 64.4%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+10%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D6D7E"/>
                </a:solidFill>
                <a:latin typeface="Calibri"/>
              </a:rPr>
              <a:t>Despite POP and attack-vc being mechanistically unrelated, they converge on almost identical SV2TTS outcomes.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6 — Protective Efficacy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PROTECTIVE EFFICACY —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attack-vc: Mean EER by Group, Ceiling vs. Cloaked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017520"/>
                <a:gridCol w="3017520"/>
                <a:gridCol w="28346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SV2TTS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Ceiling / Cloaked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Seed-VC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Ceiling / Cloaked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F5-TTS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Ceiling / Cloaked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Men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14.56% / 15.68%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7.02% / 7.57%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3.43% / 3.96%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Women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19.11% / 20.51%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9.04% / 8.90%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4.47% / 4.73%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African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17.34% / 18.24%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9.33% / 9.30%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5.36% / 5.77%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Asian (East)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15.49% / 17.13%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7.92% / 8.05%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5.95% / 6.14%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Asian (South)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21.11% / 22.16%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10.21% / 11.14%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3.40% / 4.33%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Caucasian (Am.)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14.39% / 15.77%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6.42% / 6.54%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1.85% / 2.26%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Caucasian (Eu.)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15.85% / 17.17%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6.29% / 6.14%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3.40% / 3.24%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E86C1"/>
                </a:solidFill>
                <a:latin typeface="Calibri"/>
              </a:rPr>
              <a:t>■  Same qualitative pattern as POP — disparity inherited from the pipeline, not introduced by the cloak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E86C1"/>
                </a:solidFill>
                <a:latin typeface="Calibri"/>
              </a:rPr>
              <a:t>■  One genuine difference: for F5-TTS, Asian (East) — not Asian (South) — is the most-protected descent group; system-dependent, not fixed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6 — Protective Efficacy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PROTECTIVE EFFICACY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AntiFake: Effective Against ALL THREE Systems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286000"/>
                <a:gridCol w="2468880"/>
                <a:gridCol w="2468880"/>
                <a:gridCol w="2103120"/>
              </a:tblGrid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Verifier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Clean ceiling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EER / TAR@1%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AntiFake-cloaked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EER / TAR@1%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Relative EER Δ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SV2TTS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SB-ECAPA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19.90% / 38.0%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55.51% / 1.3%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+179%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SV2TTS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Resemblyzer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9.29% / 69.9%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49.97% / 2.3%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+438%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SV2TTS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WavLM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19.00% / 22.3%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46.42% / 0.9%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+144%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Seed-VC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SB-ECAPA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3.11% / 93.2%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49.31% / 8.3%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+1,485%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Seed-VC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Resemblyzer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4.99% / 84.4%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32.49% / 20.5%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+551%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Seed-VC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WavLM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16.01% / 25.1%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34.54% / 2.9%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+116%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F5-TTS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SB-ECAPA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1.66% / 97.7%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38.17% / 16.6%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+2,199%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F5-TTS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Resemblyzer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2.23% / 96.3%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21.38% / 37.5%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+859%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374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F5-TTS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WavLM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9.24% / 66.6%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30.13% / 9.9%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C0392B"/>
                          </a:solidFill>
                        </a:rPr>
                        <a:t>+226%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SB-ECAPA / F5-TTS: EER rises from 1.66% to 38.17% — a 23× increase, the largest of any (system, verifier) cell in the whole project.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6 — Protective Efficacy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PROTECTIVE EFFICACY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AntiFake: The Imperceptibility / Protection Tradeoff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417320"/>
            <a:ext cx="3566160" cy="155448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C0392B"/>
                </a:solidFill>
                <a:latin typeface="Calibri"/>
              </a:rPr>
              <a:t>SV2TTS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+144 to +438%
relative EER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17320"/>
            <a:ext cx="3566160" cy="155448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C0392B"/>
                </a:solidFill>
                <a:latin typeface="Calibri"/>
              </a:rPr>
              <a:t>Seed-VC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+116 to +1,485%
relative EER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417320"/>
            <a:ext cx="3566160" cy="155448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C0392B"/>
                </a:solidFill>
                <a:latin typeface="Calibri"/>
              </a:rPr>
              <a:t>F5-TTS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+226 to +2,199%
relative 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2E86C1"/>
                </a:solidFill>
                <a:latin typeface="Calibri"/>
              </a:rPr>
              <a:t>■  Uniquely among the three techniques, AntiFake protects against ALL THREE downstream systems — not just SV2TTS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E86C1"/>
                </a:solidFill>
                <a:latin typeface="Calibri"/>
              </a:rPr>
              <a:t>■  Same explanation as its imperceptibility failure: the decoy-target attack optimizes embedding displacement DIRECTLY, rather than staying within a fixed imperceptibility budget the way POP/attack-vc do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700" b="1">
                <a:solidFill>
                  <a:srgbClr val="2E86C1"/>
                </a:solidFill>
                <a:latin typeface="Calibri"/>
              </a:rPr>
              <a:t>■  Trades away imperceptibility for protection that is stronger AND more uniform across attacker 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6 — Protective Efficacy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PROTECTIVE EFFICACY —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AntiFake: Mean EER by Group, Ceiling vs. Cloaked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017520"/>
                <a:gridCol w="3017520"/>
                <a:gridCol w="28346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SV2TTS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Ceiling / Cloaked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Seed-VC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Ceiling / Cloaked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F5-TTS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Ceiling / Cloaked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Men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14.56% / 51.59%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7.02% / 41.28%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3.43% / 32.82%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Women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19.11% / 55.38%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9.04% / 43.45%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4.47% / 32.95%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African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17.34% / 52.55%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9.33% / 41.46%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5.36% / 36.09%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Asian (East)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15.49% / 51.79%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7.92% / 39.66%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5.95% / 28.70%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Asian (South)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21.11% / 52.60%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10.21% / 40.48%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3.40% / 40.08%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Caucasian (Am.)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14.39% / 55.42%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6.42% / 46.62%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1.85% / 26.26%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Caucasian (Eu.)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15.85% / 55.06%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6.29% / 43.61%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3.21% / 33.29%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B2A4A"/>
                </a:solidFill>
                <a:latin typeface="Calibri"/>
              </a:rPr>
              <a:t>SV2TTS &amp; Seed-VC: Caucasian groups show BOTH worst imperceptibility AND strongest protection — same displacement mechanism drives both. F5-TTS BREAKS this pattern: gender gap nearly vanishes (32.82% vs 32.95%); Caucasian (American) flips to LOWEST-EER (tied to its unusually low clean-audio ceiling, 1.85%) — reported as an open question, not forced into the same account.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6 — Protective Efficacy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PROTECTIVE EFFICACY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ProtectYourAudio: Clean-Audio Ceiling vs. Cloaked Source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286000"/>
                <a:gridCol w="2468880"/>
                <a:gridCol w="2468880"/>
                <a:gridCol w="2103120"/>
              </a:tblGrid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Verifier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Clean ceiling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EER / TAR@1%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PYA-cloaked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EER / TAR@1%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Relative EER Δ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SV2TTS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SB-ECAPA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19.90% / 37.3%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24.27% / 31.0%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+22%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SV2TTS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Resemblyzer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9.25% / 69.8%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12.68% / 58.1%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+37%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SV2TTS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WavLM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18.89% / 22.4%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21.98% / 18.7%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+16%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Seed-VC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SB-ECAPA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3.11% / 93.2%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6.21% / 82.1%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+100%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Seed-VC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Resemblyzer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4.99% / 84.4%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7.39% / 72.1%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+48%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Seed-VC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WavLM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16.01% / 25.1%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18.44% / 19.9%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+15%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F5-TTS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SB-ECAPA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1.66% / 97.7%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4.16% / 92.6%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+151%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F5-TTS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Resemblyzer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2.23% / 96.3%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3.84% / 92.3%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+72%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37491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F5-TTS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WavLM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9.24% / 66.6%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14.96% / 47.4%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E67E22"/>
                          </a:solidFill>
                        </a:rPr>
                        <a:t>+62%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6 — Protective Efficacy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PROTECTIVE EFFICACY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ProtectYourAudio: Broader Protection Than POP or attack-vc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417320"/>
            <a:ext cx="3566160" cy="155448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E67E22"/>
                </a:solidFill>
                <a:latin typeface="Calibri"/>
              </a:rPr>
              <a:t>SV2TTS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+16 to +37%
relative EER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417320"/>
            <a:ext cx="3566160" cy="155448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E67E22"/>
                </a:solidFill>
                <a:latin typeface="Calibri"/>
              </a:rPr>
              <a:t>Seed-VC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+15 to +100%
relative EER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417320"/>
            <a:ext cx="3566160" cy="155448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E67E22"/>
                </a:solidFill>
                <a:latin typeface="Calibri"/>
              </a:rPr>
              <a:t>F5-TTS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+62 to +151%
relative 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Unlike POP/attack-vc (EER up only 2–51% relative across all three systems, mostly marginal), ProtectYourAudio shows a consistently REAL, significant effect against every system — while matching POP's/attack-vc's own imperceptibility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F5-TTS's WavLM TAR@1% drop (−29% relative) is the most security-relevant shift against F5-TTS reported anywhere in this project outside AntiFake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Demonstrates imperceptibility and cross-system protection are not as sharply opposed as POP/attack-vc alone would suggest — a discrete, budget-constrained masking search generalizes better than either continuous perturbation tested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6 — Protective Efficacy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PROTECTIVE EFFICACY —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ProtectYourAudio: Mean EER by Group, Ceiling vs. Cloaked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017520"/>
                <a:gridCol w="3017520"/>
                <a:gridCol w="28346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SV2TTS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Ceiling / Cloaked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Seed-VC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Ceiling / Cloaked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F5-TTS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Ceiling / Cloaked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Men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14.56% / 17.69%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7.02% / 9.23%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3.43% / 6.64%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Women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19.11% / 23.98%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9.04% / 12.72%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4.47% / 8.66%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African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17.34% / 21.05%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9.33% / 12.05%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5.36% / 8.40%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Asian (East)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15.49% / 20.17%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7.92% / 11.20%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5.95% / 9.29%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Asian (South)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21.11% / 24.56%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10.21% / 14.05%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3.40% / 11.39%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Caucasian (Am.)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14.39% / 19.42%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6.42% / 8.83%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1.85% / 3.23%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Caucasian (Eu.)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15.85% / 18.99%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6.29% / 8.75%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3.21% / 5.92%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>
                <a:solidFill>
                  <a:srgbClr val="2E86C1"/>
                </a:solidFill>
                <a:latin typeface="Calibri"/>
              </a:rPr>
              <a:t>■  Same pipeline-inherited pattern as POP/attack-vc, not AntiFake's inverted one — women &amp; Caucasian groups remain least-protected under every system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0">
                <a:solidFill>
                  <a:srgbClr val="2E86C1"/>
                </a:solidFill>
                <a:latin typeface="Calibri"/>
              </a:rPr>
              <a:t>■  Asian (South) is the highest-EER group under F5-TTS by a wide margin (11.39% vs. 3.23–9.29% elsewhere) — a recurring F5-TTS-specific sensitivity also seen in the restoration-study demographics, not unique to ProtectYourAudio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6 — Protective Efficacy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67E22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Why Is Seed-VC Different?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C4D6"/>
                </a:solidFill>
                <a:latin typeface="Calibri"/>
              </a:rPr>
              <a:t>An embedding-level ablation resolves the POP/attack-vc vs. AntiFake contradiction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3429000"/>
            <a:ext cx="3246120" cy="0"/>
          </a:xfrm>
          <a:prstGeom prst="line">
            <a:avLst/>
          </a:prstGeom>
          <a:ln w="381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ABLATION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Encoder Architecture Identity Check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D6D7E"/>
                </a:solidFill>
                <a:latin typeface="Calibri"/>
              </a:rPr>
              <a:t>Does either cloak share an encoder architecture with Seed-VC's or SV2TTS's own conditioning mechanism? (Would imply near-white-box transfer.)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03120"/>
          <a:ext cx="110642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6949440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Architecture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2A4A"/>
                          </a:solidFill>
                        </a:rPr>
                        <a:t>SV2TTS's own encoder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B2A4A"/>
                          </a:solidFill>
                        </a:rPr>
                        <a:t>GE2E LSTM d-vector (256-d)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2A4A"/>
                          </a:solidFill>
                        </a:rPr>
                        <a:t>attack-vc's target encoder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B2A4A"/>
                          </a:solidFill>
                        </a:rPr>
                        <a:t>AdaIN-VC's bespoke conv-bank encoder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2A4A"/>
                          </a:solidFill>
                        </a:rPr>
                        <a:t>POP's VITS surrogate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B2A4A"/>
                          </a:solidFill>
                        </a:rPr>
                        <a:t>NO encoder — closed lookup table over 50 fixed training speakers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B2A4A"/>
                          </a:solidFill>
                        </a:rPr>
                        <a:t>Seed-VC's own encoder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solidFill>
                            <a:srgbClr val="1B2A4A"/>
                          </a:solidFill>
                        </a:rPr>
                        <a:t>CAMPPlus (D-TDNN, 192-d)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7091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NONE share an architecture family — rules out simple white-box transfer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POP's surrogate has no generalizable speaker encoder at all — its perturbation isn't even crafted against a transferable identity-embedding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7 — Ablation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ABLATION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Embedding-Level Transfer Probe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D6D7E"/>
                </a:solidFill>
                <a:latin typeface="Calibri"/>
              </a:rPr>
              <a:t>Cosine similarity of each system's OWN embedding, clean vs. cloaked audio (n=500, no synthesis involved). Lower = perturbation moved that embedding more.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11680"/>
          <a:ext cx="60350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2011680"/>
              </a:tblGrid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Cloak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Mean cosine similarity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SV2TTS (GE2E)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POP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0.9917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SV2TTS (GE2E)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attack-vc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0.9836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SV2TTS (GE2E)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AntiFake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0.4051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Seed-VC (CAMPPlus)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POP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0.9787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Seed-VC (CAMPPlus)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attack-vc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0.8955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3107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Seed-VC (CAMPPlus)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AntiFake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0.4763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Contradicts the simplest hypothesis: Seed-VC's embedding shifts as much or MORE than SV2TTS's under POP/attack-vc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Yet Seed-VC's end-to-end EER barely moves for those two → decoder-robustness, not encoder-immunity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AntiFake displaces BOTH embeddings 2–4× further than POP/attack-vc's worst case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This is dose-response, not a new mechanism: POP/attack-vc stayed within Seed-VC's decoder tolerance; AntiFake exceeds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7 — Ablation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67E22"/>
                </a:solidFill>
                <a:latin typeface="Calibr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Theoretical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C4D6"/>
                </a:solidFill>
                <a:latin typeface="Calibri"/>
              </a:rPr>
              <a:t>Cloaking and restoration as one constrained-optimization problem — unifying three attacks and explaining why restoration failed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3429000"/>
            <a:ext cx="3246120" cy="0"/>
          </a:xfrm>
          <a:prstGeom prst="line">
            <a:avLst/>
          </a:prstGeom>
          <a:ln w="381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THEORETICAL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Why Formalize This?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2E86C1"/>
                </a:solidFill>
                <a:latin typeface="Calibri"/>
              </a:rPr>
              <a:t>■  Turn three separately-described mechanisms (Section 4) into one common notation, rather than three unrelated algorithms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2E86C1"/>
                </a:solidFill>
                <a:latin typeface="Calibri"/>
              </a:rPr>
              <a:t>■  Explain restoration's uniform failure (Section 9) PREDICTIVELY, not only descriptively — the framework should say in advance which techniques are doomed and why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1">
                <a:solidFill>
                  <a:srgbClr val="2E86C1"/>
                </a:solidFill>
                <a:latin typeface="Calibri"/>
              </a:rPr>
              <a:t>■  Derive concrete, falsifiable improvement directions for BOTH sides of the arms race — the cloak (attacker) and the restoration technique (adaptive defender)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800" b="0">
                <a:solidFill>
                  <a:srgbClr val="2E86C1"/>
                </a:solidFill>
                <a:latin typeface="Calibri"/>
              </a:rPr>
              <a:t>■  Grounded directly in two findings already established elsewhere in this deck:</a:t>
            </a:r>
          </a:p>
          <a:p>
            <a:pPr lvl="1">
              <a:lnSpc>
                <a:spcPct val="115000"/>
              </a:lnSpc>
              <a:spcAft>
                <a:spcPts val="1600"/>
              </a:spcAft>
            </a:pPr>
            <a:r>
              <a:rPr sz="1650" b="0">
                <a:solidFill>
                  <a:srgbClr val="1B2A4A"/>
                </a:solidFill>
                <a:latin typeface="Calibri"/>
              </a:rPr>
              <a:t>–  The dose-response threshold from the embedding-probe ablation (Section 7)</a:t>
            </a:r>
          </a:p>
          <a:p>
            <a:pPr lvl="1">
              <a:lnSpc>
                <a:spcPct val="115000"/>
              </a:lnSpc>
              <a:spcAft>
                <a:spcPts val="1600"/>
              </a:spcAft>
            </a:pPr>
            <a:r>
              <a:rPr sz="1650" b="0">
                <a:solidFill>
                  <a:srgbClr val="1B2A4A"/>
                </a:solidFill>
                <a:latin typeface="Calibri"/>
              </a:rPr>
              <a:t>–  Restoration consistently making EER worse, not better (Section 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8 — Theoretical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THEORETICAL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The Three Cloaks as One Equation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417320"/>
            <a:ext cx="11064240" cy="123444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/>
          <a:lstStyle/>
          <a:p>
            <a:pPr algn="ctr"/>
            <a:r>
              <a:rPr sz="1700" b="1">
                <a:solidFill>
                  <a:srgbClr val="1B2A4A"/>
                </a:solidFill>
                <a:latin typeface="Consolas"/>
              </a:rPr>
              <a:t>δ* = argmin over ‖δ‖∞ ≤ ε of:  λrecon·Lrecon(x+δ)  +  λemb·Σk wk‖Enck(x+δ) − Enck(xdecoy)‖²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92608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280160"/>
                <a:gridCol w="1280160"/>
                <a:gridCol w="822960"/>
                <a:gridCol w="621792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Technique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λrecon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λemb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|K|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Consequence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POP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&gt; 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—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Minimizes a VITS surrogate's own reconstruction loss;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no explicit embedding-displacement term at all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attack-vc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&gt; 0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1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Single-encoder decoy-target embedding attack;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nothing constrains signal distortion beyond ε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AntiFake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&gt; 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3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Same decoy-target objective, jointly over an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ensemble of 3 encoders for black-box transfer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D6D7E"/>
                </a:solidFill>
                <a:latin typeface="Calibri"/>
              </a:rPr>
              <a:t>All three techniques solve the same constrained optimization problem — they differ only in which term is active and over how many encoders.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8 — Theoretical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THEORETICAL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What the Equation Explains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2E86C1"/>
                </a:solidFill>
                <a:latin typeface="Calibri"/>
              </a:rPr>
              <a:t>■  POP's system-dependence (strong vs. SV2TTS, marginal vs. Seed-VC) follows from λemb = 0</a:t>
            </a:r>
          </a:p>
          <a:p>
            <a:pPr lvl="1">
              <a:lnSpc>
                <a:spcPct val="115000"/>
              </a:lnSpc>
              <a:spcAft>
                <a:spcPts val="1400"/>
              </a:spcAft>
            </a:pPr>
            <a:r>
              <a:rPr sz="1550" b="0">
                <a:solidFill>
                  <a:srgbClr val="1B2A4A"/>
                </a:solidFill>
                <a:latin typeface="Calibri"/>
              </a:rPr>
              <a:t>–  Nothing in POP's objective explicitly displaces any speaker embedding — its protective effect is an incidental side effect of degrading the VITS surrogate's reconstruction, which transfers unevenly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2E86C1"/>
                </a:solidFill>
                <a:latin typeface="Calibri"/>
              </a:rPr>
              <a:t>■  attack-vc's and AntiFake's imperceptibility risk follows from λrecon = 0</a:t>
            </a:r>
          </a:p>
          <a:p>
            <a:pPr lvl="1">
              <a:lnSpc>
                <a:spcPct val="115000"/>
              </a:lnSpc>
              <a:spcAft>
                <a:spcPts val="1400"/>
              </a:spcAft>
            </a:pPr>
            <a:r>
              <a:rPr sz="1550" b="0">
                <a:solidFill>
                  <a:srgbClr val="1B2A4A"/>
                </a:solidFill>
                <a:latin typeface="Calibri"/>
              </a:rPr>
              <a:t>–  Neither objective penalizes the perturbation for being audible — imperceptibility is only as good as the ε budget happens to allow; attack-vc's budget lands close to transparent, AntiFake's does not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700" b="1">
                <a:solidFill>
                  <a:srgbClr val="2E86C1"/>
                </a:solidFill>
                <a:latin typeface="Calibri"/>
              </a:rPr>
              <a:t>■  The Section 7 dose-response threshold IS the statement that |K| = 3 (AntiFake's ensemble) pushes embedding displacement past a magnitude that |K| = 1 (attack-vc) and λemb = 0 (POP) do not reach</a:t>
            </a:r>
          </a:p>
          <a:p>
            <a:pPr lvl="1">
              <a:lnSpc>
                <a:spcPct val="115000"/>
              </a:lnSpc>
              <a:spcAft>
                <a:spcPts val="1400"/>
              </a:spcAft>
            </a:pPr>
            <a:r>
              <a:rPr sz="1550" b="0">
                <a:solidFill>
                  <a:srgbClr val="1B2A4A"/>
                </a:solidFill>
                <a:latin typeface="Calibri"/>
              </a:rPr>
              <a:t>–  The three techniques are not different mechanisms so much as three settings of the same (λrecon, λemb, |K|) that land on different sides of a decoder-tolerance threshold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8 — Theoretical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THEORETICAL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Restoration as Approximate Inversion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D6D7E"/>
                </a:solidFill>
                <a:latin typeface="Calibri"/>
              </a:rPr>
              <a:t>Every restoration technique R attempts R(x̂) = R(x+δ) ≈ x, without access to x or δ individually.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11680"/>
          <a:ext cx="6583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Operator class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Techniques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Linear filtering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Low-pass+gain, high-pass, adaptive-filter-centroid, resampling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Lossy-basis projection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Mel-spectrogram inversion (Griffin-Lim)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Nonlinear quantization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8-bit quantize/dequantize round-trip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Nonlinear spectral masking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Spectral subtraction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Stochastic averaging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Ensemble averaging of jittered variants (N=5)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Physical-channel sim.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Simulated re-recording (RIR + mic bandpass + noise)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B2A4A"/>
                          </a:solidFill>
                        </a:rPr>
                        <a:t>Compositional / gradient-informed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B2A4A"/>
                          </a:solidFill>
                        </a:rPr>
                        <a:t>Second-cloak application (the ONE non-δ-agnostic candidate)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0" y="2011680"/>
            <a:ext cx="4297680" cy="155448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/>
          <a:lstStyle/>
          <a:p>
            <a:pPr algn="ctr"/>
            <a:r>
              <a:rPr sz="1600" b="1">
                <a:solidFill>
                  <a:srgbClr val="1B2A4A"/>
                </a:solidFill>
                <a:latin typeface="Consolas"/>
              </a:rPr>
              <a:t>R(x̂) − x = [R(x) − x] + R(δ)</a:t>
            </a:r>
          </a:p>
          <a:p>
            <a:pPr algn="ctr"/>
            <a:r>
              <a:rPr sz="1200" b="0">
                <a:solidFill>
                  <a:srgbClr val="5D6D7E"/>
                </a:solidFill>
                <a:latin typeface="Consolas"/>
              </a:rPr>
              <a:t>εR (always present)   attenuated 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749040"/>
            <a:ext cx="4297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1B2A4A"/>
                </a:solidFill>
                <a:latin typeface="Calibri"/>
              </a:rPr>
              <a:t>9 of 10 techniques are δ-agnostic — chosen from a generic prior, not derived from δ itself. Since δ was optimized to look like speech, generic R has no reason to attenuate δ more than it attenuates x — predicting exactly the uniform failure Section 9 reports.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8 — Theoretical Framework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THEORETICAL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Improving the Cloaking Techniques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POP — add an embedding term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450" b="0">
                <a:solidFill>
                  <a:srgbClr val="1B2A4A"/>
                </a:solidFill>
                <a:latin typeface="Calibri"/>
              </a:rPr>
              <a:t>–  Imperceptibility (EER ≤ 0.16%) is far from exhausting its ε budget — room to add attack-vc/AntiFake's own decoy-target term alongside POP's existing reconstruction term, targeting its demonstrated Seed-VC weakness without touching the budget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attack-vc — ensemble the encoder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450" b="0">
                <a:solidFill>
                  <a:srgbClr val="1B2A4A"/>
                </a:solidFill>
                <a:latin typeface="Calibri"/>
              </a:rPr>
              <a:t>–  Its weakness (strong vs. SV2TTS, weak vs. Seed-VC/F5-TTS) is exactly the |K|=1 row — AntiFake shows |K|=3 fixes this; extending to a small |K|=2 ensemble directly tests whether encoder count, not AntiFake's other differences, drives generalization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AntiFake — regularize, or find the minimum effective dose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450" b="0">
                <a:solidFill>
                  <a:srgbClr val="1B2A4A"/>
                </a:solidFill>
                <a:latin typeface="Calibri"/>
              </a:rPr>
              <a:t>–  Either add POP's reconstruction term back in as an imperceptibility regularizer, or reformulate as a feasibility problem: find the MINIMUM ε that crosses the empirically observed decoder-tolerance threshold, instead of maximizing displacement past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8 — Theoretical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THEORETICAL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Improving the Restoration Techniques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Add a clean-audio control channel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450" b="0">
                <a:solidFill>
                  <a:srgbClr val="1B2A4A"/>
                </a:solidFill>
                <a:latin typeface="Calibri"/>
              </a:rPr>
              <a:t>–  None of the 10 results measure εR directly — apply each technique to CLEAN, uncloaked audio and measure the embedding-cosine shift it causes on its own; cheap, and would have flagged low-pass+gain and adaptive-filter-centroid as doomed BEFORE running the full cloak→clone→verify pipeline on them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Move from δ-agnostic to learned, δ-aware purification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450" b="0">
                <a:solidFill>
                  <a:srgbClr val="1B2A4A"/>
                </a:solidFill>
                <a:latin typeface="Calibri"/>
              </a:rPr>
              <a:t>–  Fixed-form filtering can't preferentially attenuate δ over x, however cleverly parameterized — a learned network Rθ trained against a cloak's own attack distribution is structurally capable of succeeding where all 9 fixed-form techniques cannot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Make second-cloak application explicitly adversarial</a:t>
            </a:r>
          </a:p>
          <a:p>
            <a:pPr lvl="1">
              <a:lnSpc>
                <a:spcPct val="115000"/>
              </a:lnSpc>
              <a:spcAft>
                <a:spcPts val="1200"/>
              </a:spcAft>
            </a:pPr>
            <a:r>
              <a:rPr sz="1450" b="0">
                <a:solidFill>
                  <a:srgbClr val="1B2A4A"/>
                </a:solidFill>
                <a:latin typeface="Calibri"/>
              </a:rPr>
              <a:t>–  Its current form blindly reapplies the SAME attack direction — a gray-box "denoising PGD" (gradient ASCENT on the surrogate's own loss) would explicitly push the composite perturbation back toward δ=0 instead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8 — Theoretical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67E22"/>
                </a:solidFill>
                <a:latin typeface="Calibr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Can Protective Efficacy Be Reversed?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C4D6"/>
                </a:solidFill>
                <a:latin typeface="Calibri"/>
              </a:rPr>
              <a:t>Testing an adaptive attacker who restores cloaked audio before cloning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3429000"/>
            <a:ext cx="3246120" cy="0"/>
          </a:xfrm>
          <a:prstGeom prst="line">
            <a:avLst/>
          </a:prstGeom>
          <a:ln w="381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RESTORATION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Adaptive-Attacker Hypothesis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A stronger attacker who knows a recording MAY be cloaked could apply signal-domain restoration BEFORE cloning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450" b="0">
                <a:solidFill>
                  <a:srgbClr val="1B2A4A"/>
                </a:solidFill>
                <a:latin typeface="Calibri"/>
              </a:rPr>
              <a:t>–  Attempt to strip/average away the cloaking perturbation while leaving identity intact — restoration is cloak-agnostic (attacker does not know which cloak, if any, protected the recording)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16 restoration techniques applied to POP-, attack-vc-, and AntiFake-cloaked audio (full 6-gain low-pass sweep now complete for all three)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Scored the same way as every other system in this deck: clone the restored audio and re-run the 1 genuine + 10 impostor trial protocol against clean bonafide — for all three downstream cloners (SV2TTS, Seed-VC, F5-TTS), not just SV2TTS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3749040"/>
          <a:ext cx="11064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2286000"/>
                <a:gridCol w="228600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SB-ECAPA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Resemblyzer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WavLM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B2A4A"/>
                          </a:solidFill>
                        </a:rPr>
                        <a:t>Clean-audio ceiling (ref.)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19.72%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9.22%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18.84%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B2A4A"/>
                          </a:solidFill>
                        </a:rPr>
                        <a:t>POP baseline, no restoration (ref.)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20.51%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10.22%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19.26%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B2A4A"/>
                          </a:solidFill>
                        </a:rPr>
                        <a:t>attack-vc baseline, no restoration (ref.)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21.06%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10.69%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19.17%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B2A4A"/>
                          </a:solidFill>
                        </a:rPr>
                        <a:t>AntiFake baseline, no restoration (ref.)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55.51%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49.97%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B2A4A"/>
                          </a:solidFill>
                        </a:rPr>
                        <a:t>46.42%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9 — Restoration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RESTORATION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POP / SV2TTS: Does Restoration Reverse the Cloak?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Clean-audio ceiling: SB=19.72%  RB=9.22%  WL=18.84%   |   No-restoration baseline (SV2TTS, not SV2TTS's): SB=20.51%  RB=10.22%  WL=19.26%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463040"/>
                <a:gridCol w="1554480"/>
                <a:gridCol w="1371600"/>
                <a:gridCol w="1920240"/>
                <a:gridCol w="1737360"/>
              </a:tblGrid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Restoration technique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SB-ECAPA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Resemblyzer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WavLM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ΔSB-ECAPA vs baseline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Reversed?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29.63%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16.65%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26.23%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+9.12pp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1.2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29.54%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16.16%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25.82%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+9.03pp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1.4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29.42%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16.38%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25.71%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+8.91pp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1.6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28.95%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16.18%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25.45%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+8.44pp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1.8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29.00%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15.99%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25.42%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+8.49pp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2.0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28.95%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16.36%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25.49%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+8.44pp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Adaptive-filter-centroid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49.28%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45.48%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44.38%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+28.77pp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Downsampling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27.11%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13.61%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23.35%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+6.60pp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Upsampling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20.55%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10.15%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19.33%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+0.04pp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Ensemble-averaging (perturbed)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23.37%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11.92%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21.07%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+2.86pp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Mel-spectrogram inversion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28.74%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16.76%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23.21%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+8.23pp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Quantization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21.94%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12.06%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20.46%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+1.43pp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High-pass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20.68%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10.05%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19.05%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+0.17pp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Spectral subtraction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21.15%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10.34%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19.54%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+0.64pp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Simulated re-recording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29.01%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18.33%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24.48%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+8.50pp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Second-cloak (additive noise)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20.91%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10.85%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19.49%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+0.40pp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9 — Restoration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RESTORATION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attack-vc / SV2TTS: Does Restoration Reverse the Cloak?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Clean-audio ceiling: SB=19.72%  RB=9.22%  WL=18.84%   |   No-restoration baseline (SV2TTS, not SV2TTS's): SB=21.06%  RB=10.69%  WL=19.17%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463040"/>
                <a:gridCol w="1554480"/>
                <a:gridCol w="1371600"/>
                <a:gridCol w="1920240"/>
                <a:gridCol w="1737360"/>
              </a:tblGrid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Restoration technique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SB-ECAPA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Resemblyzer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WavLM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ΔSB-ECAPA vs baseline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Reversed?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32.94%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19.92%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27.56%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+11.88pp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1.2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32.49%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19.14%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27.65%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+11.43pp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1.4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32.55%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19.17%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27.49%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+11.49pp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1.6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32.01%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18.69%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27.25%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+10.95pp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1.8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32.18%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18.61%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27.18%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+11.12pp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2.0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32.20%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18.42%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27.02%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+11.14pp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Adaptive-filter-centroid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50.40%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43.49%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44.21%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+29.34pp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Downsampling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27.58%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14.39%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24.08%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+6.52pp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Upsampling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21.61%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10.61%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19.99%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+0.55pp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Ensemble-averaging (perturbed)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23.60%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12.46%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21.39%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+2.54pp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Mel-spectrogram inversion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29.01%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17.05%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23.01%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+7.95pp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Quantization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22.97%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13.04%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20.98%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+1.91pp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High-pass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21.27%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10.85%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19.35%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+0.21pp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Spectral subtraction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20.98%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10.34%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19.65%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-0.08pp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Simulated re-recording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28.83%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18.72%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24.41%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+7.77pp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Second-cloak (additive noise)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21.21%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11.31%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20.22%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+0.15pp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9 — Restoration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RESTORATION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AntiFake / SV2TTS: Does Restoration Reverse the Cloak?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Clean-audio ceiling: SB=19.72%  RB=9.22%  WL=18.84%   |   No-restoration baseline (SV2TTS, not SV2TTS's): SB=55.51%  RB=49.97%  WL=46.42%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463040"/>
                <a:gridCol w="1554480"/>
                <a:gridCol w="1371600"/>
                <a:gridCol w="1920240"/>
                <a:gridCol w="1737360"/>
              </a:tblGrid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Restoration technique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SB-ECAPA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Resemblyzer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WavLM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ΔSB-ECAPA vs baseline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Reversed?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50.99%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40.34%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41.05%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-4.52pp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Slight reversal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1.2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51.17%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39.86%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41.18%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-4.34pp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Slight reversal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1.4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50.78%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39.93%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40.61%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-4.73pp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Slight reversal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1.6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50.48%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39.45%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40.11%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-5.03pp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E3E"/>
                          </a:solidFill>
                        </a:rPr>
                        <a:t>PARTIAL REVERSAL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1.8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50.41%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39.16%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39.15%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-5.10pp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E3E"/>
                          </a:solidFill>
                        </a:rPr>
                        <a:t>PARTIAL REVERSAL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2.0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50.18%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39.00%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39.18%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-5.33pp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E3E"/>
                          </a:solidFill>
                        </a:rPr>
                        <a:t>PARTIAL REVERSAL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Adaptive-filter-centroid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50.72%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49.25%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48.13%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-4.79pp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Downsampling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52.26%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40.98%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42.92%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-3.25pp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Slight reversal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Upsampling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56.16%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49.90%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46.65%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+0.65pp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Ensemble-averaging (perturbed)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53.02%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43.68%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43.39%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-2.49pp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Slight reversal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Mel-spectrogram inversion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54.83%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45.21%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43.77%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-0.68pp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Quantization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55.79%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49.59%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46.68%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+0.28pp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High-pass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55.80%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48.56%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46.31%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+0.29pp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Spectral subtraction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53.88%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43.20%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43.41%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-1.63pp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Slight reversal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Simulated re-recording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47.72%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33.32%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35.40%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-7.79pp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8E3E"/>
                          </a:solidFill>
                        </a:rPr>
                        <a:t>PARTIAL REVERSAL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Second-cloak (additive noise)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55.39%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49.56%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46.56%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-0.12pp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9 — Restoration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RESTORATION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POP / Seed-VC: Does Restoration Reverse the Cloak?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Clean-audio ceiling: SB=19.72%  RB=9.22%  WL=18.84%   |   No-restoration baseline (Seed-VC, not SV2TTS's): SB=3.64%  RB=5.12%  WL=16.59%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463040"/>
                <a:gridCol w="1554480"/>
                <a:gridCol w="1371600"/>
                <a:gridCol w="1920240"/>
                <a:gridCol w="1737360"/>
              </a:tblGrid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Restoration technique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SB-ECAPA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Resemblyzer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WavLM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ΔSB-ECAPA vs baseline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Reversed?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15.79%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14.25%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25.37%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+12.15pp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1.2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15.99%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14.44%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25.54%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+12.35pp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1.4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15.93%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14.46%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25.22%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+12.29pp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1.6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16.39%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14.52%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25.50%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+12.75pp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1.8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16.59%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14.83%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25.78%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+12.95pp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2.0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17.16%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14.62%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25.95%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+13.52pp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Adaptive-filter-centroid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47.59%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47.31%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45.06%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+43.95pp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Downsampling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13.63%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12.35%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22.51%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+9.99pp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Upsampling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3.50%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5.30%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16.61%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-0.14pp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Ensemble-averaging (perturbed)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4.13%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5.94%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16.90%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+0.49pp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Mel-spectrogram inversion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5.00%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7.40%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17.29%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+1.36pp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Quantization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5.53%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6.23%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17.47%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+1.89pp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High-pass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3.52%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5.41%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16.22%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-0.12pp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Spectral subtraction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4.03%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7.46%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17.99%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+0.39pp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Simulated re-recording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13.06%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14.39%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24.61%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+9.42pp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Second-cloak (additive noise)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4.19%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5.65%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17.25%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+0.55pp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9 — Restoration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RESTORATION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POP / F5-TTS: Does Restoration Reverse the Cloak?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Clean-audio ceiling: SB=19.72%  RB=9.22%  WL=18.84%   |   No-restoration baseline (F5-TTS, not SV2TTS's): SB=2.53%  RB=2.46%  WL=10.89%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463040"/>
                <a:gridCol w="1554480"/>
                <a:gridCol w="1371600"/>
                <a:gridCol w="1920240"/>
                <a:gridCol w="1737360"/>
              </a:tblGrid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Restoration technique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SB-ECAPA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Resemblyzer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WavLM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ΔSB-ECAPA vs baseline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Reversed?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6.31%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7.32%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18.17%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+3.78pp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1.2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6.19%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7.03%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18.18%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+3.66pp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1.4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6.09%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6.88%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18.48%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+3.56pp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1.6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6.51%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6.80%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18.48%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+3.98pp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1.8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6.44%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6.71%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18.49%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+3.91pp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2.0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6.31%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6.66%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18.66%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+3.78pp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Adaptive-filter-centroid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49.79%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49.61%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50.47%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+47.26pp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Downsampling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5.11%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4.60%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15.70%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+2.58pp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Upsampling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2.32%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2.41%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9.98%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-0.21pp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Ensemble-averaging (perturbed)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2.67%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2.84%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10.31%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+0.14pp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Mel-spectrogram inversion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2.43%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2.73%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10.16%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-0.10pp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Quantization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6.15%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4.46%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15.72%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+3.62pp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High-pass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2.10%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2.29%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9.83%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-0.43pp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Spectral subtraction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1.26%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2.30%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8.33%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-1.27pp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Simulated re-recording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13.65%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10.46%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22.24%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+11.12pp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Second-cloak (additive noise)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3.81%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3.34%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13.58%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+1.28pp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9 — Restoration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RESTORATION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attack-vc / Seed-VC: Does Restoration Reverse the Cloak?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Clean-audio ceiling: SB=19.72%  RB=9.22%  WL=18.84%   |   No-restoration baseline (Seed-VC, not SV2TTS's): SB=3.29%  RB=5.00%  WL=16.37%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463040"/>
                <a:gridCol w="1554480"/>
                <a:gridCol w="1371600"/>
                <a:gridCol w="1920240"/>
                <a:gridCol w="1737360"/>
              </a:tblGrid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Restoration technique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SB-ECAPA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Resemblyzer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WavLM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ΔSB-ECAPA vs baseline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Reversed?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18.86%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16.00%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26.24%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+15.57pp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1.2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18.40%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16.43%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27.04%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+15.11pp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1.4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19.59%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16.57%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26.62%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+16.30pp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1.6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19.33%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16.82%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26.93%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+16.04pp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1.8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19.58%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16.86%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27.08%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+16.29pp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2.0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19.86%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17.13%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27.35%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+16.57pp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Adaptive-filter-centroid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47.95%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45.01%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44.30%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+44.66pp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Downsampling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13.22%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12.46%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22.76%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+9.93pp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Upsampling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3.54%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5.04%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16.34%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+0.25pp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Ensemble-averaging (perturbed)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3.82%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6.10%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16.96%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+0.53pp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Mel-spectrogram inversion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5.16%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7.46%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17.44%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+1.87pp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Quantization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5.33%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5.89%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17.42%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+2.04pp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High-pass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3.47%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5.32%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16.15%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+0.18pp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Spectral subtraction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3.75%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7.41%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17.10%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+0.46pp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Simulated re-recording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11.60%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14.46%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24.06%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+8.31pp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Second-cloak (additive noise)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4.30%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5.92%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16.57%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+1.01pp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9 — Restoration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RESTORATION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attack-vc / F5-TTS: Does Restoration Reverse the Cloak?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Clean-audio ceiling: SB=19.72%  RB=9.22%  WL=18.84%   |   No-restoration baseline (F5-TTS, not SV2TTS's): SB=2.13%  RB=2.71%  WL=10.06%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463040"/>
                <a:gridCol w="1554480"/>
                <a:gridCol w="1371600"/>
                <a:gridCol w="1920240"/>
                <a:gridCol w="1737360"/>
              </a:tblGrid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Restoration technique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SB-ECAPA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Resemblyzer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WavLM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ΔSB-ECAPA vs baseline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Reversed?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7.88%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8.90%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20.11%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+5.75pp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1.2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8.12%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9.17%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20.40%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+5.99pp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1.4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8.16%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9.06%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20.70%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+6.03pp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1.6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7.98%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8.78%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20.73%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+5.85pp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1.8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7.99%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9.01%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20.76%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+5.86pp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2.0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8.18%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9.19%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21.14%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+6.05pp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Adaptive-filter-centroid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49.50%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48.23%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50.21%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+47.37pp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Downsampling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4.41%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4.42%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15.41%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+2.28pp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Upsampling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2.19%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2.75%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9.82%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+0.06pp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Ensemble-averaging (perturbed)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2.37%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2.86%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10.01%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+0.24pp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Mel-spectrogram inversion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2.28%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3.04%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10.01%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+0.15pp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Quantization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5.89%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4.48%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15.62%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+3.76pp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High-pass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2.01%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2.51%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9.77%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-0.12pp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Spectral subtraction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1.01%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2.45%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8.28%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-1.12pp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Simulated re-recording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12.39%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10.55%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22.31%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+10.26pp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Second-cloak (additive noise)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4.15%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3.69%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13.78%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+2.02pp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9 — Restoration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RESTORATION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AntiFake / Seed-VC: Does Restoration Reverse the Cloak?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Clean-audio ceiling: SB=19.72%  RB=9.22%  WL=18.84%   |   No-restoration baseline (Seed-VC, not SV2TTS's): SB=49.32%  RB=32.29%  WL=34.27%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463040"/>
                <a:gridCol w="1554480"/>
                <a:gridCol w="1371600"/>
                <a:gridCol w="1920240"/>
                <a:gridCol w="1737360"/>
              </a:tblGrid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Restoration technique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SB-ECAPA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Resemblyzer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WavLM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ΔSB-ECAPA vs baseline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Reversed?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41.20%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33.28%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34.87%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-8.12pp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1.2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40.98%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33.44%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35.22%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-8.34pp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1.4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40.69%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33.86%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35.45%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-8.63pp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1.6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41.18%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34.08%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35.44%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-8.14pp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1.8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41.02%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34.33%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35.36%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-8.30pp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2.0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41.29%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34.56%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35.61%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-8.03pp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Adaptive-filter-centroid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49.50%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51.24%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49.45%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+0.18pp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Downsampling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42.01%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34.16%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35.38%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-7.31pp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Upsampling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48.68%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32.14%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34.38%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-0.64pp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Ensemble-averaging (perturbed)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49.24%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31.30%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34.27%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-0.08pp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Mel-spectrogram inversion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44.49%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29.34%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33.02%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-4.83pp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Slight reversal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Quantization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48.55%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32.28%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34.02%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-0.77pp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High-pass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49.05%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31.81%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34.26%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-0.27pp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Spectral subtraction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51.65%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33.09%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34.76%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+2.33pp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Simulated re-recording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42.86%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33.28%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33.53%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-6.46pp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Second-cloak (additive noise)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49.09%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32.54%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33.76%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-0.23pp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9 — Restoration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RESTORATION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AntiFake / F5-TTS: Does Restoration Reverse the Cloak?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Clean-audio ceiling: SB=19.72%  RB=9.22%  WL=18.84%   |   No-restoration baseline (F5-TTS, not SV2TTS's): SB=38.22%  RB=21.37%  WL=30.09%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20240"/>
          <a:ext cx="11064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463040"/>
                <a:gridCol w="1554480"/>
                <a:gridCol w="1371600"/>
                <a:gridCol w="1920240"/>
                <a:gridCol w="1737360"/>
              </a:tblGrid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Restoration technique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SB-ECAPA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Resemblyzer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WavLM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ΔSB-ECAPA vs baseline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Reversed?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31.85%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20.57%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30.10%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-6.37pp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1.2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30.82%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21.42%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30.06%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-7.40pp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1.4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31.41%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22.18%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30.03%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-6.81pp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1.6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31.54%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23.62%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30.56%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-6.68pp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1.8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31.44%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23.82%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30.61%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-6.78pp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2.0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31.73%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24.33%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30.73%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-6.49pp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Adaptive-filter-centroid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51.37%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49.62%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51.57%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+13.15pp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Downsampling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31.85%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21.47%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29.20%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-6.37pp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Upsampling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37.00%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20.29%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28.87%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-1.22pp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Slight reversal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Ensemble-averaging (perturbed)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—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—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—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—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D6D7E"/>
                          </a:solidFill>
                        </a:rPr>
                        <a:t>pending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Mel-spectrogram inversion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37.80%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22.08%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29.27%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-0.42pp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Quantization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37.27%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20.89%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30.03%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-0.95pp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High-pass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38.47%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21.43%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29.98%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+0.25pp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Spectral subtraction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45.25%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23.38%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29.22%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+7.03pp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85077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Simulated re-recording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35.28%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25.43%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31.96%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-2.94pp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850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Second-cloak (additive noise)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37.40%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21.24%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29.99%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-0.82pp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392B"/>
                          </a:solidFill>
                        </a:rPr>
                        <a:t>No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9 — Restoration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RESTORATION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Result: Restoration Rarely Reverses the Cloak, on Any Synthesizer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417320"/>
            <a:ext cx="3566160" cy="182880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C0392B"/>
                </a:solidFill>
                <a:latin typeface="Calibri"/>
              </a:rPr>
              <a:t>POP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0 full reversals across all
48 (technique × synthesizer)
combinations tested
(0 slight, F5-TTS only)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417320"/>
            <a:ext cx="3566160" cy="182880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C0392B"/>
                </a:solidFill>
                <a:latin typeface="Calibri"/>
              </a:rPr>
              <a:t>attack-vc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0 full reversals across all
48 (technique × synthesizer)
combinations tested
(0 slight, F5-TTS only)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1417320"/>
            <a:ext cx="3749039" cy="1828800"/>
          </a:xfrm>
          <a:prstGeom prst="rect">
            <a:avLst/>
          </a:prstGeom>
          <a:solidFill>
            <a:srgbClr val="F4F6F7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2600" b="1">
                <a:solidFill>
                  <a:srgbClr val="E67E22"/>
                </a:solidFill>
                <a:latin typeface="Calibri"/>
              </a:rPr>
              <a:t>AntiFake</a:t>
            </a:r>
          </a:p>
          <a:p>
            <a:pPr algn="ctr"/>
            <a:r>
              <a:rPr sz="1200">
                <a:solidFill>
                  <a:srgbClr val="5D6D7E"/>
                </a:solidFill>
                <a:latin typeface="Calibri"/>
              </a:rPr>
              <a:t>4 PARTIAL + 8 slight reversal
of 47 combinations scored so far
(35 show no reversal, 1 still pending)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11064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Extended this session to Seed-VC and F5-TTS, not just SV2TTS: for POP and attack-vc, the result holds on every downstream cloner tested — zero full reversals across 96 combinations, only a few mild, F5-TTS-specific partial shifts (spectral subtraction, upsampling, high-pass filtering)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>
                <a:solidFill>
                  <a:srgbClr val="2E86C1"/>
                </a:solidFill>
                <a:latin typeface="Calibri"/>
              </a:rPr>
              <a:t>■  Each synthesizer is compared against its OWN no-restoration baseline, never SV2TTS's — Seed-VC/F5-TTS already sit close to the clean-audio ceiling before any restoration, so a naive cross-synthesizer comparison would look like a dramatic reversal that isn't real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AntiFake remains the one cloak method where restoration produces a genuine (if still partial) reversal on SV2TTS — extending this same SV2TTS finding to Seed-VC/F5-TTS for AntiFake is in progress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0">
                <a:solidFill>
                  <a:srgbClr val="2E86C1"/>
                </a:solidFill>
                <a:latin typeface="Calibri"/>
              </a:rPr>
              <a:t>■  Demographic pattern survives restoration largely unchanged across all three cloak methods and all three synthesizers tested — pre-existing disparities are not an artifact of the unrestored cloak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9 — Restoration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RESTORATION STUDY —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POP: Gender Breakdown by Restoration Technique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D6D7E"/>
                </a:solidFill>
                <a:latin typeface="Calibri"/>
              </a:rPr>
              <a:t>Mean EER across all 3 verifiers, per technique (16 of 16 scored so far)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7452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011680"/>
                <a:gridCol w="2011680"/>
                <a:gridCol w="30175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Restoration technique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Men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Women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 (Women − Men)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Baseline (no restoration)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15.12%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19.93%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+4.81pp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1.0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21.73%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29.43%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+7.70pp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1.2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21.09%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28.72%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+7.63pp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1.4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21.29%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28.44%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+7.15pp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21.23%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27.91%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+6.67pp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1.8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20.95%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27.25%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+6.30pp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2.0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21.10%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27.77%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+6.67pp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Adaptive-filter-centroid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46.51%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47.51%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+0.99pp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Downsampling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19.60%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25.85%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+6.25pp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Upsampling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15.06%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19.78%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+4.72pp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Ensemble-averaging (perturbed)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17.43%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23.10%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+5.67pp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Mel-spectrogram inversion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20.51%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27.64%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+7.13pp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Quantization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17.47%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20.90%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+3.43pp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High-pass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14.51%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20.01%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+5.50pp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Spectral subtraction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14.76%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21.18%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+6.42pp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Simulated re-recording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24.01%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25.00%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+0.98pp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Second-cloak (additive noise)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15.27%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20.55%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+5.28pp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9 — Restoration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RESTORATION STUDY —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POP: Descent Breakdown by Restoration Technique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D6D7E"/>
                </a:solidFill>
                <a:latin typeface="Calibri"/>
              </a:rPr>
              <a:t>Mean EER across all 3 verifiers and both genders, per technique (16 of 16 scored so far)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7452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572768"/>
                <a:gridCol w="1572768"/>
                <a:gridCol w="1572768"/>
                <a:gridCol w="1572768"/>
                <a:gridCol w="1572768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Restoration technique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African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Asian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(East)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Asian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(South)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Caucasian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(American)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Caucasian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(European)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Baseline (no restoration)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18.01%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16.79%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21.28%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15.41%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16.12%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Low-pass + gain 1.0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26.84%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25.50%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27.71%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24.79%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23.04%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Low-pass + gain 1.2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26.24%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25.02%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27.35%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23.60%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22.34%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Low-pass + gain 1.4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25.14%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24.82%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27.30%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23.99%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23.09%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Low-pass + gain 1.6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25.02%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25.16%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27.44%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23.03%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22.21%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Low-pass + gain 1.8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24.93%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24.24%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27.08%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22.72%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21.50%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Low-pass + gain 2.0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25.02%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25.11%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27.57%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22.66%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21.81%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Adaptive-filter-centroid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47.26%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44.31%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49.13%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49.60%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44.75%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Downsampling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22.97%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22.64%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24.69%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22.74%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20.59%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Upsampling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17.60%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15.86%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22.11%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15.21%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16.29%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Ensemble-averaging (perturbed)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20.60%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19.70%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23.19%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19.98%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17.88%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Mel-spectrogram inversion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21.95%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23.30%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27.34%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23.89%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23.89%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Quantization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19.36%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17.68%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23.54%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16.93%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18.39%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High-pass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16.93%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16.70%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22.38%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14.40%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15.90%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Spectral subtraction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18.60%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17.84%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20.56%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16.32%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16.51%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Simulated re-recording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23.37%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19.54%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29.82%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25.12%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24.69%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Second-cloak (additive noise)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17.88%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16.36%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22.79%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15.97%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16.54%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9 — Restoration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RESTORATION STUDY —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attack-vc: Gender Breakdown by Restoration Technique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D6D7E"/>
                </a:solidFill>
                <a:latin typeface="Calibri"/>
              </a:rPr>
              <a:t>Mean EER across all 3 verifiers, per technique (16 of 16 scored so far)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7452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011680"/>
                <a:gridCol w="2011680"/>
                <a:gridCol w="30175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Restoration technique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Men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Women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 (Women − Men)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Baseline (no restoration)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15.62%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20.32%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+4.70pp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1.0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24.80%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31.85%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+7.05pp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1.2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24.70%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31.57%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+6.87pp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1.4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24.68%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31.03%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+6.35pp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24.42%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30.40%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+5.98pp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1.8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24.33%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30.65%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+6.32pp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2.0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23.91%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30.54%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+6.63pp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Adaptive-filter-centroid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49.87%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43.88%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-5.99pp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Downsampling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19.83%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26.75%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+6.92pp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Upsampling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15.76%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20.74%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+4.98pp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Ensemble-averaging (perturbed)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17.28%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23.47%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+6.20pp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Mel-spectrogram inversion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20.09%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28.06%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+7.97pp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Quantization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17.92%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21.83%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+3.91pp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High-pass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15.27%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20.86%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+5.59pp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Spectral subtraction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14.81%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20.69%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+5.88pp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Simulated re-recording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23.87%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25.23%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+1.36pp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Second-cloak (additive noise)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15.96%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20.65%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+4.69pp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9 — Restoration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RESTORATION STUDY —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attack-vc: Descent Breakdown by Restoration Technique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D6D7E"/>
                </a:solidFill>
                <a:latin typeface="Calibri"/>
              </a:rPr>
              <a:t>Mean EER across all 3 verifiers and both genders, per technique (16 of 16 scored so far)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7452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572768"/>
                <a:gridCol w="1572768"/>
                <a:gridCol w="1572768"/>
                <a:gridCol w="1572768"/>
                <a:gridCol w="1572768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Restoration technique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African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Asian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(East)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Asian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(South)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Caucasian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(American)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Caucasian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(European)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Baseline (no restoration)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18.09%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16.89%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21.94%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15.54%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17.39%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Low-pass + gain 1.0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28.36%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26.98%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31.31%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27.77%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27.19%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Low-pass + gain 1.2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28.85%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26.77%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31.01%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26.85%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27.19%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Low-pass + gain 1.4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28.67%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26.17%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31.25%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26.48%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26.69%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Low-pass + gain 1.6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27.91%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26.65%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30.34%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25.67%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26.47%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Low-pass + gain 1.8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28.45%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26.53%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30.80%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25.22%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26.43%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Low-pass + gain 2.0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28.21%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26.12%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30.27%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25.57%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25.92%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Adaptive-filter-centroid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48.21%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43.09%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48.32%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49.06%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45.71%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Downsampling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23.62%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23.20%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24.82%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23.24%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21.58%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Upsampling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18.11%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17.36%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22.71%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16.02%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17.06%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Ensemble-averaging (perturbed)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21.07%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19.80%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23.11%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19.35%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18.54%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Mel-spectrogram inversion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22.21%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23.28%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27.18%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24.49%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23.20%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Quantization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19.24%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18.28%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24.70%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18.31%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18.84%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High-pass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17.55%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17.95%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22.20%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15.68%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16.93%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Spectral subtraction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18.07%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17.97%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20.58%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15.70%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16.44%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Simulated re-recording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23.15%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19.72%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29.14%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25.52%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25.21%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Second-cloak (additive noise)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18.32%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17.12%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22.99%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16.17%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16.91%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9 — Restoration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RESTORATION STUDY —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AntiFake: Gender Breakdown by Restoration Technique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D6D7E"/>
                </a:solidFill>
                <a:latin typeface="Calibri"/>
              </a:rPr>
              <a:t>Mean EER across all 3 verifiers, per technique (16 of 16 scored so far)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7452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011680"/>
                <a:gridCol w="2011680"/>
                <a:gridCol w="301752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</a:rPr>
                        <a:t>Restoration technique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Men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Women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Δ (Women − Men)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Baseline (no restoration)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51.31%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55.11%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+3.80pp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1.0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44.31%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49.14%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+4.83pp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1.2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44.20%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48.86%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+4.67pp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1.4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44.10%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48.56%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+4.46pp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43.88%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47.85%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+3.96pp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1.8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43.49%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47.12%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+3.64pp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Low-pass + gain 2.0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43.22%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46.96%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+3.74pp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Adaptive-filter-centroid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46.16%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54.53%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+8.37pp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Downsampling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45.62%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50.81%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+5.19pp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Upsampling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51.57%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54.85%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+3.27pp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Ensemble-averaging (perturbed)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47.88%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50.66%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+2.78pp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Mel-spectrogram inversion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48.27%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51.81%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+3.54pp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Quantization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51.03%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55.04%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+4.01pp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High-pass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50.50%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54.49%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+3.98pp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Spectral subtraction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49.13%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49.72%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+0.59pp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Simulated re-recording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40.04%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41.25%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+1.21pp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B2A4A"/>
                          </a:solidFill>
                        </a:rPr>
                        <a:t>Second-cloak (additive noise)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50.86%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1B2A4A"/>
                          </a:solidFill>
                        </a:rPr>
                        <a:t>54.85%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E67E22"/>
                          </a:solidFill>
                        </a:rPr>
                        <a:t>+3.99pp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9 — Restoration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RESTORATION STUDY — 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AntiFake: Descent Breakdown by Restoration Technique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D6D7E"/>
                </a:solidFill>
                <a:latin typeface="Calibri"/>
              </a:rPr>
              <a:t>Mean EER across all 3 verifiers and both genders, per technique (16 of 16 scored so far)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874520"/>
          <a:ext cx="110642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572768"/>
                <a:gridCol w="1572768"/>
                <a:gridCol w="1572768"/>
                <a:gridCol w="1572768"/>
                <a:gridCol w="1572768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Restoration technique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African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Asian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(East)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Asian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(South)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Caucasian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(American)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Caucasian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(European)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Baseline (no restoration)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52.68%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51.54%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52.14%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54.68%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55.01%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Low-pass + gain 1.0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46.30%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45.66%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44.75%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48.53%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48.41%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Low-pass + gain 1.2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46.23%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45.94%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44.50%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48.13%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47.86%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Low-pass + gain 1.4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46.02%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45.28%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44.62%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48.19%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47.55%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Low-pass + gain 1.6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45.39%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44.07%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45.03%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47.26%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47.58%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Low-pass + gain 1.8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45.32%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43.78%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43.91%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46.50%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47.02%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Low-pass + gain 2.0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45.02%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43.78%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43.22%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46.51%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46.93%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Adaptive-filter-centroid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50.78%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48.34%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49.90%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53.08%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49.62%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Downsampling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46.67%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48.12%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47.36%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49.48%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49.44%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Upsampling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52.78%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51.69%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52.81%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53.92%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54.84%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Ensemble-averaging (perturbed)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48.83%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47.59%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48.45%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49.95%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51.55%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Mel-spectrogram inversion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49.27%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49.11%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49.98%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50.61%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51.24%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Quantization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52.37%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52.04%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52.17%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54.11%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54.47%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High-pass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52.05%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50.60%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52.56%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53.64%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53.63%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Spectral subtraction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49.40%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47.20%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47.76%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51.72%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51.04%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Simulated re-recording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39.50%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36.46%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43.02%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41.79%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42.45%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B2A4A"/>
                          </a:solidFill>
                        </a:rPr>
                        <a:t>Second-cloak (additive noise)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52.63%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51.38%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51.88%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53.58%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1B2A4A"/>
                          </a:solidFill>
                        </a:rPr>
                        <a:t>54.82%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9 — Restoration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E67E22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Cross-Technique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343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8C4D6"/>
                </a:solidFill>
                <a:latin typeface="Calibri"/>
              </a:rPr>
              <a:t>Putting imperceptibility and protective efficacy side by side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" y="3429000"/>
            <a:ext cx="3246120" cy="0"/>
          </a:xfrm>
          <a:prstGeom prst="line">
            <a:avLst/>
          </a:prstGeom>
          <a:ln w="3810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The Big Picture: A Tradeoff, Not a Binary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651760"/>
                <a:gridCol w="3200400"/>
                <a:gridCol w="347472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Technique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Imperceptibility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Protective Efficacy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Demographic pattern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POP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Near-perfect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(EER ≤ 0.16%)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Marginal on all three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systems (mostly ≤15%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relative EER)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Inherited from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downstream pipeline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attack-vc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Near-perfect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(EER ≤ 2.1%)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Marginal-to-modest,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strongest vs. F5-TTS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(up to +25%)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Inherited from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downstream pipeline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ProtectYourAudio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Near-perfect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(EER ≤ 2.1%)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ALL THREE systems,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broader than POP/attack-vc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Inherited from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downstream pipeline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AntiFake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Fails outright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(EER 22–66%)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ALL THREE systems,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largest effects overall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Coupled to the cloak's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own displacement (mostly)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70916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B2A4A"/>
                </a:solidFill>
                <a:latin typeface="Calibri"/>
              </a:rPr>
              <a:t>POP and attack-vc stay close to imperceptible but protect only marginally across downstream systems overall (strongest vs. F5-TTS, weakest vs. Seed-VC/SV2TTS).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B2A4A"/>
                </a:solidFill>
                <a:latin typeface="Calibri"/>
              </a:rPr>
              <a:t>AntiFake sacrifices imperceptibility entirely for protection that is stronger and far more uniform across attacker types.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1B2A4A"/>
                </a:solidFill>
                <a:latin typeface="Calibri"/>
              </a:rPr>
              <a:t>ProtectYourAudio sits between these extremes — matching POP's/attack-vc's imperceptibility while protecting measurably more broadly, showing the two objectives are not as sharply opposed as POP/attack-vc alone would suggest.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10 — Conclusions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Key Contributions of This Evaluation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2E86C1"/>
                </a:solidFill>
                <a:latin typeface="Calibri"/>
              </a:rPr>
              <a:t>■  First reproduction of 4 cloaking defenses end-to-end, on identical hardware, against a shared 4,867-clip demographically balanced corpus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2E86C1"/>
                </a:solidFill>
                <a:latin typeface="Calibri"/>
              </a:rPr>
              <a:t>■  First large-scale descent × gender fairness audit of proactive cloaking effectiveness — a question none of the original papers examine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2E86C1"/>
                </a:solidFill>
                <a:latin typeface="Calibri"/>
              </a:rPr>
              <a:t>■  Rigorously separated imperceptibility from protective efficacy — the most common conflation in the cloaking literature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2E86C1"/>
                </a:solidFill>
                <a:latin typeface="Calibri"/>
              </a:rPr>
              <a:t>■  Resolved an apparent contradiction (Seed-VC resistant to POP/attack-vc but not AntiFake) with a direct embedding-level dose-response test, not speculation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2E86C1"/>
                </a:solidFill>
                <a:latin typeface="Calibri"/>
              </a:rPr>
              <a:t>■  Tested — not assumed — whether an adaptive attacker can reverse cloaking via signal restoration, across all three downstream cloners (SV2TTS, Seed-VC, F5-TTS): it backfires for POP/attack-vc on every one (0 full reversals in 96 combinations), but partially narrows AntiFake's protective margin on roughly half the techniques tested on SV2TTS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800" b="1">
                <a:solidFill>
                  <a:srgbClr val="2E86C1"/>
                </a:solidFill>
                <a:latin typeface="Calibri"/>
              </a:rPr>
              <a:t>■  Every number in this deck is traced to a specific script, CSV, and verification pass — reproducible, not reported from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Section 10 — Conclusions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Four Evaluation Objectives and What Each Is Compared Against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D6D7E"/>
                </a:solidFill>
                <a:latin typeface="Calibri"/>
              </a:rPr>
              <a:t>The dataset produces four distinct kinds of audio; each is measured against a different reference point.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642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310896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Objective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Compared against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Success looks like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A4A"/>
                          </a:solidFill>
                        </a:rPr>
                        <a:t>1. Imperceptibility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cloaked_bonafide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Clean original</a:t>
                      </a:r>
                    </a:p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(same recording)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Verifies as SAME speaker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A4A"/>
                          </a:solidFill>
                        </a:rPr>
                        <a:t>   + cross-recording</a:t>
                      </a:r>
                    </a:p>
                    <a:p>
                      <a:pPr algn="l"/>
                      <a:r>
                        <a:rPr sz="1250" b="1">
                          <a:solidFill>
                            <a:srgbClr val="1B2A4A"/>
                          </a:solidFill>
                        </a:rPr>
                        <a:t>   (stricter variant)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cloaked_bonafide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A DIFFERENT recording</a:t>
                      </a:r>
                    </a:p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of the same speaker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Still verifies as SAME</a:t>
                      </a:r>
                    </a:p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(no worse than clean baseline)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A4A"/>
                          </a:solidFill>
                        </a:rPr>
                        <a:t>2. Protective efficacy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cloaked_synthesize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That synthesizer's OWN</a:t>
                      </a:r>
                    </a:p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clean-audio ceiling</a:t>
                      </a:r>
                    </a:p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(matched clips)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Verifies as DIFFERENT speaker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A4A"/>
                          </a:solidFill>
                        </a:rPr>
                        <a:t>3. Restoration quality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restoration techniques</a:t>
                      </a:r>
                    </a:p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(pre-recloning)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Not verifier-tested —</a:t>
                      </a:r>
                    </a:p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STOI/PESQ/SI-SDR only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Input to objective 4,</a:t>
                      </a:r>
                    </a:p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not an endpoint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B2A4A"/>
                          </a:solidFill>
                        </a:rPr>
                        <a:t>4. Restoration reversal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restored_synthesize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The cloak's OWN</a:t>
                      </a:r>
                    </a:p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no-restoration baseline</a:t>
                      </a:r>
                    </a:p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(NOT the ceiling)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Reversal = EER significantly</a:t>
                      </a:r>
                    </a:p>
                    <a:p>
                      <a:pPr algn="ctr"/>
                      <a:r>
                        <a:rPr sz="1250">
                          <a:solidFill>
                            <a:srgbClr val="1B2A4A"/>
                          </a:solidFill>
                        </a:rPr>
                        <a:t>LOWER than that baseline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12064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400" b="1">
                <a:solidFill>
                  <a:srgbClr val="2E86C1"/>
                </a:solidFill>
                <a:latin typeface="Calibri"/>
              </a:rPr>
              <a:t>■  Objective 4 is deliberately paired against the cloak's own baseline, not the ceiling — the question is whether restoration helps an attacker who only ever had the cloaked audio (this project's threat model), not whether it recovers never-cloaked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Appendix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0408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B2A4A"/>
                </a:solidFill>
                <a:latin typeface="Calibri"/>
              </a:rPr>
              <a:t>Cross-Recording Imperceptibility: A Stricter Test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207008"/>
            <a:ext cx="11064240" cy="0"/>
          </a:xfrm>
          <a:prstGeom prst="line">
            <a:avLst/>
          </a:prstGeom>
          <a:ln w="12700">
            <a:solidFill>
              <a:srgbClr val="D5D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D6D7E"/>
                </a:solidFill>
                <a:latin typeface="Calibri"/>
              </a:rPr>
              <a:t>Same-recording imperceptibility (Section 5) compares a cloaked clip to the exact recording it was cloaked from — the easiest case for any verifier. Here the genuine reference is instead a DIFFERENT recording of the same speaker (4,801/4,867 clips have one), which is how a verifier is actually used against enrolled reference audio.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194560"/>
          <a:ext cx="110642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7432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</a:rPr>
                        <a:t>Cloak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LibriSpeech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ΔEER (mean, pp)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ASVspoof2021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ΔEER (mean, pp)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FakeAVCeleb</a:t>
                      </a:r>
                    </a:p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ΔEER (mean, pp)</a:t>
                      </a:r>
                    </a:p>
                  </a:txBody>
                  <a:tcPr anchor="ctr" marT="38100" marB="38100"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POP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+0.20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+0.08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−0.09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attack-vc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+0.43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+2.45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−0.04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AntiFake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+27.90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+28.62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+10.97</a:t>
                      </a:r>
                    </a:p>
                  </a:txBody>
                  <a:tcPr anchor="ctr" marT="25400" marB="254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1B2A4A"/>
                          </a:solidFill>
                        </a:rPr>
                        <a:t>ProtectYourAudio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+0.75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+1.59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1B2A4A"/>
                          </a:solidFill>
                        </a:rPr>
                        <a:t>+0.48</a:t>
                      </a:r>
                    </a:p>
                  </a:txBody>
                  <a:tcPr anchor="ctr" marT="25400" marB="25400">
                    <a:solidFill>
                      <a:srgbClr val="F4F6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2976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2E86C1"/>
                </a:solidFill>
                <a:latin typeface="Calibri"/>
              </a:rPr>
              <a:t>■  AntiFake fails this stricter test badly and consistently — EER rises 6–58 points (all corpora, all 3 verifiers, p&lt;0.001) — an order of magnitude larger than any other cloak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0">
                <a:solidFill>
                  <a:srgbClr val="2E86C1"/>
                </a:solidFill>
                <a:latin typeface="Calibri"/>
              </a:rPr>
              <a:t>■  This means AntiFake's same-recording imperceptibility numbers (Section 5) substantially overstate how imperceptible it would be against a verifier's real enrolled reference audio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1">
                <a:solidFill>
                  <a:srgbClr val="2E86C1"/>
                </a:solidFill>
                <a:latin typeface="Calibri"/>
              </a:rPr>
              <a:t>■  POP shows no consistent significant degradation across corpora/verifiers under this stricter test; attack-vc and ProtectYourAudio show small but real, mostly-significant increases concentrated on WavLM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50" b="0">
                <a:solidFill>
                  <a:srgbClr val="2E86C1"/>
                </a:solidFill>
                <a:latin typeface="Calibri"/>
              </a:rPr>
              <a:t>■  FakeAVCeleb's clean cross-recording baseline is already near chance (~27–42% EER) so has the least room to show a difference — LibriSpeech/ASVspoof2021 are the more sensitive tests here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D6D7E"/>
                </a:solidFill>
                <a:latin typeface="Calibri"/>
              </a:rPr>
              <a:t>Appendix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D6D7E"/>
                </a:solidFill>
                <a:latin typeface="Calibri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8C4D6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D6D7E"/>
                </a:solidFill>
                <a:latin typeface="Calibri"/>
              </a:rPr>
              <a:t>AntiFake2026 — Measuring Imperceptibility and Verification-Leakage of Audio Cloaking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