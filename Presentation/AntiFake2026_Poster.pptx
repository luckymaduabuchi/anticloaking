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918400" cy="43891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31089600" cy="1371600"/>
          </a:xfrm>
          <a:prstGeom prst="rect">
            <a:avLst/>
          </a:prstGeom>
          <a:noFill/>
        </p:spPr>
        <p:txBody>
          <a:bodyPr wrap="square" anchor="t" lIns="45720" rIns="45720" tIns="18288" bIns="18288">
            <a:spAutoFit/>
          </a:bodyPr>
          <a:lstStyle/>
          <a:p>
            <a:pPr algn="ctr">
              <a:lnSpc>
                <a:spcPct val="102000"/>
              </a:lnSpc>
            </a:pPr>
            <a:r>
              <a:rPr sz="5400" b="1" i="0" dirty="0">
                <a:solidFill>
                  <a:srgbClr val="161E33"/>
                </a:solidFill>
                <a:latin typeface="Calibri"/>
                <a:ea typeface="Calibri"/>
                <a:cs typeface="Calibri"/>
              </a:rPr>
              <a:t>Security Analysis of Anti-Cloaking Schemes</a:t>
            </a:r>
          </a:p>
        </p:txBody>
      </p:sp>
      <p:sp>
        <p:nvSpPr>
          <p:cNvPr id="3" name="TextBox 2"/>
          <p:cNvSpPr txBox="1"/>
          <p:nvPr/>
        </p:nvSpPr>
        <p:spPr>
          <a:xfrm>
            <a:off x="914400" y="2331720"/>
            <a:ext cx="31089600" cy="594360"/>
          </a:xfrm>
          <a:prstGeom prst="rect">
            <a:avLst/>
          </a:prstGeom>
          <a:noFill/>
        </p:spPr>
        <p:txBody>
          <a:bodyPr wrap="square" anchor="t" lIns="45720" rIns="45720" tIns="18288" bIns="18288">
            <a:spAutoFit/>
          </a:bodyPr>
          <a:lstStyle/>
          <a:p>
            <a:pPr algn="ctr">
              <a:lnSpc>
                <a:spcPct val="108000"/>
              </a:lnSpc>
            </a:pPr>
            <a:r>
              <a:rPr sz="3400" b="1" i="0" dirty="0">
                <a:solidFill>
                  <a:srgbClr val="202020"/>
                </a:solidFill>
                <a:latin typeface="Calibri"/>
                <a:ea typeface="Calibri"/>
                <a:cs typeface="Calibri"/>
              </a:rPr>
              <a:t>Lucky Onyekwelu-Udoka  ·  Guan Yong</a:t>
            </a:r>
          </a:p>
        </p:txBody>
      </p:sp>
      <p:sp>
        <p:nvSpPr>
          <p:cNvPr id="4" name="TextBox 3"/>
          <p:cNvSpPr txBox="1"/>
          <p:nvPr/>
        </p:nvSpPr>
        <p:spPr>
          <a:xfrm>
            <a:off x="914400" y="2971800"/>
            <a:ext cx="31089600" cy="502920"/>
          </a:xfrm>
          <a:prstGeom prst="rect">
            <a:avLst/>
          </a:prstGeom>
          <a:noFill/>
        </p:spPr>
        <p:txBody>
          <a:bodyPr wrap="square" anchor="t" lIns="45720" rIns="45720" tIns="18288" bIns="18288">
            <a:spAutoFit/>
          </a:bodyPr>
          <a:lstStyle/>
          <a:p>
            <a:pPr algn="ctr">
              <a:lnSpc>
                <a:spcPct val="108000"/>
              </a:lnSpc>
            </a:pPr>
            <a:r>
              <a:rPr sz="2800" b="0" i="0" dirty="0">
                <a:solidFill>
                  <a:srgbClr val="202020"/>
                </a:solidFill>
                <a:latin typeface="Calibri"/>
                <a:ea typeface="Calibri"/>
                <a:cs typeface="Calibri"/>
              </a:rPr>
              <a:t>Digital Forensics Research Group</a:t>
            </a:r>
          </a:p>
        </p:txBody>
      </p:sp>
      <p:sp>
        <p:nvSpPr>
          <p:cNvPr id="5" name="TextBox 4"/>
          <p:cNvSpPr txBox="1"/>
          <p:nvPr/>
        </p:nvSpPr>
        <p:spPr>
          <a:xfrm>
            <a:off x="914400" y="3429000"/>
            <a:ext cx="31089600" cy="502920"/>
          </a:xfrm>
          <a:prstGeom prst="rect">
            <a:avLst/>
          </a:prstGeom>
          <a:noFill/>
        </p:spPr>
        <p:txBody>
          <a:bodyPr wrap="square" anchor="t" lIns="45720" rIns="45720" tIns="18288" bIns="18288">
            <a:spAutoFit/>
          </a:bodyPr>
          <a:lstStyle/>
          <a:p>
            <a:pPr algn="ctr">
              <a:lnSpc>
                <a:spcPct val="108000"/>
              </a:lnSpc>
            </a:pPr>
            <a:r>
              <a:rPr sz="2800" b="0" i="0" dirty="0">
                <a:solidFill>
                  <a:srgbClr val="202020"/>
                </a:solidFill>
                <a:latin typeface="Calibri"/>
                <a:ea typeface="Calibri"/>
                <a:cs typeface="Calibri"/>
              </a:rPr>
              <a:t>Department of Electrical and Computer Engineering · Iowa State University</a:t>
            </a:r>
          </a:p>
        </p:txBody>
      </p:sp>
      <p:sp>
        <p:nvSpPr>
          <p:cNvPr id="6" name="TextBox 5"/>
          <p:cNvSpPr txBox="1"/>
          <p:nvPr/>
        </p:nvSpPr>
        <p:spPr>
          <a:xfrm>
            <a:off x="914400" y="3886200"/>
            <a:ext cx="31089600" cy="502920"/>
          </a:xfrm>
          <a:prstGeom prst="rect">
            <a:avLst/>
          </a:prstGeom>
          <a:noFill/>
        </p:spPr>
        <p:txBody>
          <a:bodyPr wrap="square" anchor="t" lIns="45720" rIns="45720" tIns="18288" bIns="18288">
            <a:spAutoFit/>
          </a:bodyPr>
          <a:lstStyle/>
          <a:p>
            <a:pPr algn="ctr">
              <a:lnSpc>
                <a:spcPct val="108000"/>
              </a:lnSpc>
            </a:pPr>
            <a:r>
              <a:rPr sz="2800" b="0" i="0" dirty="0">
                <a:solidFill>
                  <a:srgbClr val="202020"/>
                </a:solidFill>
                <a:latin typeface="Calibri"/>
                <a:ea typeface="Calibri"/>
                <a:cs typeface="Calibri"/>
              </a:rPr>
              <a:t>lucky@iastate.edu  ·  guan@iastate.edu</a:t>
            </a:r>
          </a:p>
        </p:txBody>
      </p:sp>
      <p:sp>
        <p:nvSpPr>
          <p:cNvPr id="7" name="Rectangle 6"/>
          <p:cNvSpPr/>
          <p:nvPr/>
        </p:nvSpPr>
        <p:spPr>
          <a:xfrm>
            <a:off x="914400" y="5349240"/>
            <a:ext cx="3108960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571500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571500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1.  Introduction &amp; Motivation</a:t>
            </a:r>
          </a:p>
        </p:txBody>
      </p:sp>
      <p:sp>
        <p:nvSpPr>
          <p:cNvPr id="10" name="TextBox 9"/>
          <p:cNvSpPr txBox="1"/>
          <p:nvPr/>
        </p:nvSpPr>
        <p:spPr>
          <a:xfrm>
            <a:off x="914400" y="6720840"/>
            <a:ext cx="15179040" cy="2743200"/>
          </a:xfrm>
          <a:prstGeom prst="rect">
            <a:avLst/>
          </a:prstGeom>
          <a:noFill/>
        </p:spPr>
        <p:txBody>
          <a:bodyPr wrap="square" anchor="t" lIns="45720" rIns="45720" tIns="18288" bIns="18288">
            <a:spAutoFit/>
          </a:bodyPr>
          <a:lstStyle/>
          <a:p>
            <a:pPr algn="l">
              <a:lnSpc>
                <a:spcPct val="108000"/>
              </a:lnSpc>
            </a:pPr>
            <a:r>
              <a:rPr sz="3200" b="0" i="0" dirty="0">
                <a:solidFill>
                  <a:srgbClr val="202020"/>
                </a:solidFill>
                <a:latin typeface="Calibri"/>
                <a:ea typeface="Calibri"/>
                <a:cs typeface="Calibri"/>
              </a:rPr>
              <a:t>Zero-shot voice-cloning systems can reproduce a speaker's identity from only a few seconds of reference audio, lowering the barrier to voice fraud and non-consensual synthetic media. Proactive (“cloaking”) defenses perturb a recording before it is ever published, so that any later cloning attempt fails. We reproduce four representative cloaking defenses end to end, from official source code, on identical hardware and one shared evaluation protocol, and answer three questions kept carefully separate: does the cloak stay imperceptible, does it actually stop a downstream cloning attacker, and can an adaptive attacker undo it?</a:t>
            </a:r>
          </a:p>
        </p:txBody>
      </p:sp>
      <p:sp>
        <p:nvSpPr>
          <p:cNvPr id="11" name="Rectangle 10"/>
          <p:cNvSpPr/>
          <p:nvPr/>
        </p:nvSpPr>
        <p:spPr>
          <a:xfrm>
            <a:off x="914400" y="9509759"/>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9509759"/>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2.  Dataset &amp; Corpus</a:t>
            </a:r>
          </a:p>
        </p:txBody>
      </p:sp>
      <p:sp>
        <p:nvSpPr>
          <p:cNvPr id="13" name="TextBox 12"/>
          <p:cNvSpPr txBox="1"/>
          <p:nvPr/>
        </p:nvSpPr>
        <p:spPr>
          <a:xfrm>
            <a:off x="914400" y="10515599"/>
            <a:ext cx="15179040" cy="1737360"/>
          </a:xfrm>
          <a:prstGeom prst="rect">
            <a:avLst/>
          </a:prstGeom>
          <a:noFill/>
        </p:spPr>
        <p:txBody>
          <a:bodyPr wrap="square" anchor="t" lIns="45720" rIns="45720" tIns="18288" bIns="18288">
            <a:spAutoFit/>
          </a:bodyPr>
          <a:lstStyle/>
          <a:p>
            <a:pPr algn="l">
              <a:lnSpc>
                <a:spcPct val="106000"/>
              </a:lnSpc>
            </a:pPr>
            <a:r>
              <a:rPr sz="3200" b="0" i="0" dirty="0">
                <a:solidFill>
                  <a:srgbClr val="202020"/>
                </a:solidFill>
                <a:latin typeface="Calibri"/>
                <a:ea typeface="Calibri"/>
                <a:cs typeface="Calibri"/>
              </a:rPr>
              <a:t>4,867 recordings pooled from three independent public corpora. The FakeAVCeleb subset carries descent × gender metadata, balanced across 5 descent groups and 2 genders — enabling the first large-scale fairness audit of cloaking effectiveness.</a:t>
            </a:r>
          </a:p>
        </p:txBody>
      </p:sp>
      <p:graphicFrame>
        <p:nvGraphicFramePr>
          <p:cNvPr id="14" name="Table 13"/>
          <p:cNvGraphicFramePr>
            <a:graphicFrameLocks noGrp="1"/>
          </p:cNvGraphicFramePr>
          <p:nvPr/>
        </p:nvGraphicFramePr>
        <p:xfrm>
          <a:off x="914400" y="12298679"/>
          <a:ext cx="15179040" cy="2907792"/>
        </p:xfrm>
        <a:graphic>
          <a:graphicData uri="http://schemas.openxmlformats.org/drawingml/2006/table">
            <a:tbl>
              <a:tblPr firstRow="1" bandRow="1">
                <a:tableStyleId>{5C22544A-7EE6-4342-B048-85BDC9FD1C3A}</a:tableStyleId>
              </a:tblPr>
              <a:tblGrid>
                <a:gridCol w="8046720"/>
                <a:gridCol w="3566160"/>
                <a:gridCol w="3566160"/>
              </a:tblGrid>
              <a:tr h="640080">
                <a:tc>
                  <a:txBody>
                    <a:bodyPr wrap="square"/>
                    <a:lstStyle/>
                    <a:p>
                      <a:pPr algn="l"/>
                      <a:r>
                        <a:rPr sz="2400" b="1" i="0" dirty="0">
                          <a:solidFill>
                            <a:srgbClr val="FFFFFF"/>
                          </a:solidFill>
                          <a:latin typeface="Calibri"/>
                          <a:ea typeface="Calibri"/>
                          <a:cs typeface="Calibri"/>
                        </a:rPr>
                        <a:t>Corpus</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Recordings</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Demographics</a:t>
                      </a:r>
                    </a:p>
                  </a:txBody>
                  <a:tcPr marL="73152" marR="73152" marT="36576" marB="36576" anchor="ctr">
                    <a:solidFill>
                      <a:srgbClr val="161E33"/>
                    </a:solidFill>
                  </a:tcPr>
                </a:tc>
              </a:tr>
              <a:tr h="566928">
                <a:tc>
                  <a:txBody>
                    <a:bodyPr wrap="square"/>
                    <a:lstStyle/>
                    <a:p>
                      <a:pPr algn="l"/>
                      <a:r>
                        <a:rPr sz="2400" b="0" i="0" dirty="0">
                          <a:solidFill>
                            <a:srgbClr val="202020"/>
                          </a:solidFill>
                          <a:latin typeface="Calibri"/>
                          <a:ea typeface="Calibri"/>
                          <a:cs typeface="Calibri"/>
                        </a:rPr>
                        <a:t>LibriSpeech</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500</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a:t>
                      </a:r>
                    </a:p>
                  </a:txBody>
                  <a:tcPr marL="73152" marR="73152" marT="36576" marB="36576" anchor="ctr">
                    <a:solidFill>
                      <a:srgbClr val="FFFFFF"/>
                    </a:solidFill>
                  </a:tcPr>
                </a:tc>
              </a:tr>
              <a:tr h="566928">
                <a:tc>
                  <a:txBody>
                    <a:bodyPr wrap="square"/>
                    <a:lstStyle/>
                    <a:p>
                      <a:pPr algn="l"/>
                      <a:r>
                        <a:rPr sz="2400" b="0" i="0" dirty="0">
                          <a:solidFill>
                            <a:srgbClr val="202020"/>
                          </a:solidFill>
                          <a:latin typeface="Calibri"/>
                          <a:ea typeface="Calibri"/>
                          <a:cs typeface="Calibri"/>
                        </a:rPr>
                        <a:t>ASVspoof 2021</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500</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a:t>
                      </a:r>
                    </a:p>
                  </a:txBody>
                  <a:tcPr marL="73152" marR="73152" marT="36576" marB="36576" anchor="ctr">
                    <a:solidFill>
                      <a:srgbClr val="F1F1F1"/>
                    </a:solidFill>
                  </a:tcPr>
                </a:tc>
              </a:tr>
              <a:tr h="566928">
                <a:tc>
                  <a:txBody>
                    <a:bodyPr wrap="square"/>
                    <a:lstStyle/>
                    <a:p>
                      <a:pPr algn="l"/>
                      <a:r>
                        <a:rPr sz="2400" b="0" i="0" dirty="0">
                          <a:solidFill>
                            <a:srgbClr val="202020"/>
                          </a:solidFill>
                          <a:latin typeface="Calibri"/>
                          <a:ea typeface="Calibri"/>
                          <a:cs typeface="Calibri"/>
                        </a:rPr>
                        <a:t>FakeAVCeleb</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3,867</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5 descent × 2 gender</a:t>
                      </a:r>
                    </a:p>
                  </a:txBody>
                  <a:tcPr marL="73152" marR="73152" marT="36576" marB="36576" anchor="ctr">
                    <a:solidFill>
                      <a:srgbClr val="FFFFFF"/>
                    </a:solidFill>
                  </a:tcPr>
                </a:tc>
              </a:tr>
              <a:tr h="566928">
                <a:tc>
                  <a:txBody>
                    <a:bodyPr wrap="square"/>
                    <a:lstStyle/>
                    <a:p>
                      <a:pPr algn="l"/>
                      <a:r>
                        <a:rPr sz="2400" b="0" i="0" dirty="0">
                          <a:solidFill>
                            <a:srgbClr val="202020"/>
                          </a:solidFill>
                          <a:latin typeface="Calibri"/>
                          <a:ea typeface="Calibri"/>
                          <a:cs typeface="Calibri"/>
                        </a:rPr>
                        <a:t>Total</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4,867</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769 speakers</a:t>
                      </a:r>
                    </a:p>
                  </a:txBody>
                  <a:tcPr marL="73152" marR="73152" marT="36576" marB="36576" anchor="ctr">
                    <a:solidFill>
                      <a:srgbClr val="F1F1F1"/>
                    </a:solidFill>
                  </a:tcPr>
                </a:tc>
              </a:tr>
            </a:tbl>
          </a:graphicData>
        </a:graphic>
      </p:graphicFrame>
      <p:sp>
        <p:nvSpPr>
          <p:cNvPr id="15" name="Rectangle 14"/>
          <p:cNvSpPr/>
          <p:nvPr/>
        </p:nvSpPr>
        <p:spPr>
          <a:xfrm>
            <a:off x="914400" y="15526511"/>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15526511"/>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3.  Four Cloaking Techniques Reproduced</a:t>
            </a:r>
          </a:p>
        </p:txBody>
      </p:sp>
      <p:graphicFrame>
        <p:nvGraphicFramePr>
          <p:cNvPr id="17" name="Table 16"/>
          <p:cNvGraphicFramePr>
            <a:graphicFrameLocks noGrp="1"/>
          </p:cNvGraphicFramePr>
          <p:nvPr/>
        </p:nvGraphicFramePr>
        <p:xfrm>
          <a:off x="914400" y="16532351"/>
          <a:ext cx="15179040" cy="7406640"/>
        </p:xfrm>
        <a:graphic>
          <a:graphicData uri="http://schemas.openxmlformats.org/drawingml/2006/table">
            <a:tbl>
              <a:tblPr firstRow="1" bandRow="1">
                <a:tableStyleId>{5C22544A-7EE6-4342-B048-85BDC9FD1C3A}</a:tableStyleId>
              </a:tblPr>
              <a:tblGrid>
                <a:gridCol w="5120640"/>
                <a:gridCol w="3840480"/>
                <a:gridCol w="6217920"/>
              </a:tblGrid>
              <a:tr h="640080">
                <a:tc>
                  <a:txBody>
                    <a:bodyPr wrap="square"/>
                    <a:lstStyle/>
                    <a:p>
                      <a:pPr algn="l"/>
                      <a:r>
                        <a:rPr sz="2400" b="1" i="0" dirty="0">
                          <a:solidFill>
                            <a:srgbClr val="FFFFFF"/>
                          </a:solidFill>
                          <a:latin typeface="Calibri"/>
                          <a:ea typeface="Calibri"/>
                          <a:cs typeface="Calibri"/>
                        </a:rPr>
                        <a:t>Technique (source paper)</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Threat model</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Mechanism</a:t>
                      </a:r>
                    </a:p>
                  </a:txBody>
                  <a:tcPr marL="73152" marR="73152" marT="36576" marB="36576" anchor="ctr">
                    <a:solidFill>
                      <a:srgbClr val="161E33"/>
                    </a:solidFill>
                  </a:tcPr>
                </a:tc>
              </a:tr>
              <a:tr h="1828800">
                <a:tc>
                  <a:txBody>
                    <a:bodyPr wrap="square"/>
                    <a:lstStyle/>
                    <a:p>
                      <a:pPr algn="l"/>
                      <a:r>
                        <a:rPr sz="2400" b="0" i="0" dirty="0">
                          <a:solidFill>
                            <a:srgbClr val="202020"/>
                          </a:solidFill>
                          <a:latin typeface="Calibri"/>
                          <a:ea typeface="Calibri"/>
                          <a:cs typeface="Calibri"/>
                        </a:rPr>
                        <a:t>Mitigating Unauthorized
Speech Synthesis [1]
(“POP”)</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Training-time
(unlearnable audio)</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PGD perturbation minimizing a pretrained VITS surrogate's own reconstruction loss; ε = 8/255.</a:t>
                      </a:r>
                    </a:p>
                  </a:txBody>
                  <a:tcPr marL="73152" marR="73152" marT="36576" marB="36576" anchor="ctr">
                    <a:solidFill>
                      <a:srgbClr val="FFFFFF"/>
                    </a:solidFill>
                  </a:tcPr>
                </a:tc>
              </a:tr>
              <a:tr h="1371600">
                <a:tc>
                  <a:txBody>
                    <a:bodyPr wrap="square"/>
                    <a:lstStyle/>
                    <a:p>
                      <a:pPr algn="l"/>
                      <a:r>
                        <a:rPr sz="2400" b="0" i="0" dirty="0">
                          <a:solidFill>
                            <a:srgbClr val="202020"/>
                          </a:solidFill>
                          <a:latin typeface="Calibri"/>
                          <a:ea typeface="Calibri"/>
                          <a:cs typeface="Calibri"/>
                        </a:rPr>
                        <a:t>Defending Your Voice [2]
(“attack-vc”)</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Inference-time
(VC spoofing)</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Decoy-target embedding attack against AdaIN-VC's own speaker encoder.</a:t>
                      </a:r>
                    </a:p>
                  </a:txBody>
                  <a:tcPr marL="73152" marR="73152" marT="36576" marB="36576" anchor="ctr">
                    <a:solidFill>
                      <a:srgbClr val="F1F1F1"/>
                    </a:solidFill>
                  </a:tcPr>
                </a:tc>
              </a:tr>
              <a:tr h="1554480">
                <a:tc>
                  <a:txBody>
                    <a:bodyPr wrap="square"/>
                    <a:lstStyle/>
                    <a:p>
                      <a:pPr algn="l"/>
                      <a:r>
                        <a:rPr sz="2400" b="0" i="0" dirty="0">
                          <a:solidFill>
                            <a:srgbClr val="202020"/>
                          </a:solidFill>
                          <a:latin typeface="Calibri"/>
                          <a:ea typeface="Calibri"/>
                          <a:cs typeface="Calibri"/>
                        </a:rPr>
                        <a:t>AntiFake [3]</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Inference-time
(TTS/VC, ensemble)</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Decoy-target attack optimized jointly against 3 surrogate encoders (RTVC, AutoVC, YourTTS).</a:t>
                      </a:r>
                    </a:p>
                  </a:txBody>
                  <a:tcPr marL="73152" marR="73152" marT="36576" marB="36576" anchor="ctr">
                    <a:solidFill>
                      <a:srgbClr val="FFFFFF"/>
                    </a:solidFill>
                  </a:tcPr>
                </a:tc>
              </a:tr>
              <a:tr h="2011680">
                <a:tc>
                  <a:txBody>
                    <a:bodyPr wrap="square"/>
                    <a:lstStyle/>
                    <a:p>
                      <a:pPr algn="l"/>
                      <a:r>
                        <a:rPr sz="2400" b="0" i="0" dirty="0">
                          <a:solidFill>
                            <a:srgbClr val="202020"/>
                          </a:solidFill>
                          <a:latin typeface="Calibri"/>
                          <a:ea typeface="Calibri"/>
                          <a:cs typeface="Calibri"/>
                        </a:rPr>
                        <a:t>Protecting Your Voice from
Speech Synthesis Attacks [4]
(“ProtectYourAudio”)</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Inference-time
(VC spoofing)</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Greedy discrete search over frequency-band masking, budgeted against a perceptual-similarity constraint.</a:t>
                      </a:r>
                    </a:p>
                  </a:txBody>
                  <a:tcPr marL="73152" marR="73152" marT="36576" marB="36576" anchor="ctr">
                    <a:solidFill>
                      <a:srgbClr val="F1F1F1"/>
                    </a:solidFill>
                  </a:tcPr>
                </a:tc>
              </a:tr>
            </a:tbl>
          </a:graphicData>
        </a:graphic>
      </p:graphicFrame>
      <p:sp>
        <p:nvSpPr>
          <p:cNvPr id="18" name="Rectangle 17"/>
          <p:cNvSpPr/>
          <p:nvPr/>
        </p:nvSpPr>
        <p:spPr>
          <a:xfrm>
            <a:off x="914400" y="24304752"/>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4304752"/>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4.  Key Contributions</a:t>
            </a:r>
          </a:p>
        </p:txBody>
      </p:sp>
      <p:sp>
        <p:nvSpPr>
          <p:cNvPr id="20" name="TextBox 19"/>
          <p:cNvSpPr txBox="1"/>
          <p:nvPr/>
        </p:nvSpPr>
        <p:spPr>
          <a:xfrm>
            <a:off x="914400" y="25310592"/>
            <a:ext cx="15179040" cy="8229600"/>
          </a:xfrm>
          <a:prstGeom prst="rect">
            <a:avLst/>
          </a:prstGeom>
          <a:noFill/>
        </p:spPr>
        <p:txBody>
          <a:bodyPr wrap="square" lIns="45720" rIns="45720" tIns="18288" bIns="18288">
            <a:spAutoFit/>
          </a:bodyPr>
          <a:lstStyle/>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First reproduction of four cloaking defenses end to end, on identical hardware, against one shared 4,867-clip demographically balanced corpus.</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First large-scale descent × gender fairness audit of proactive-cloaking effectiveness — a question none of the four original papers examine.</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Rigorous separation of imperceptibility, protective efficacy, and restorability — three properties routinely conflated in the cloaking literature.</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A restoration study spanning 143 (technique × cloak × downstream system) combinations scored so far, with paired cluster-bootstrap significance testing whether an adaptive attacker can undo each cloak with generic signal processing (ProtectYourAudio's combinations are still incoming).</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A unified constrained-optimization framework explaining, predictively, why restoration succeeds for some techniques and not others.</a:t>
            </a:r>
          </a:p>
        </p:txBody>
      </p:sp>
      <p:sp>
        <p:nvSpPr>
          <p:cNvPr id="21" name="Rectangle 20"/>
          <p:cNvSpPr/>
          <p:nvPr/>
        </p:nvSpPr>
        <p:spPr>
          <a:xfrm>
            <a:off x="16824960" y="571500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962119" y="571500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5.  Evaluation Framework</a:t>
            </a:r>
          </a:p>
        </p:txBody>
      </p:sp>
      <p:sp>
        <p:nvSpPr>
          <p:cNvPr id="23" name="TextBox 22"/>
          <p:cNvSpPr txBox="1"/>
          <p:nvPr/>
        </p:nvSpPr>
        <p:spPr>
          <a:xfrm>
            <a:off x="16824960" y="6720840"/>
            <a:ext cx="15179040" cy="1051560"/>
          </a:xfrm>
          <a:prstGeom prst="rect">
            <a:avLst/>
          </a:prstGeom>
          <a:noFill/>
        </p:spPr>
        <p:txBody>
          <a:bodyPr wrap="square" anchor="t" lIns="45720" rIns="45720" tIns="18288" bIns="18288">
            <a:spAutoFit/>
          </a:bodyPr>
          <a:lstStyle/>
          <a:p>
            <a:pPr algn="l">
              <a:lnSpc>
                <a:spcPct val="105000"/>
              </a:lnSpc>
            </a:pPr>
            <a:r>
              <a:rPr sz="3200" b="0" i="0" dirty="0">
                <a:solidFill>
                  <a:srgbClr val="202020"/>
                </a:solidFill>
                <a:latin typeface="Calibri"/>
                <a:ea typeface="Calibri"/>
                <a:cs typeface="Calibri"/>
              </a:rPr>
              <a:t>Speaker identity is judged by a verifier, not waveform equality. Three questions are asked of every cloak, kept strictly separate:</a:t>
            </a:r>
          </a:p>
        </p:txBody>
      </p:sp>
      <p:sp>
        <p:nvSpPr>
          <p:cNvPr id="24" name="Rectangle 23"/>
          <p:cNvSpPr/>
          <p:nvPr/>
        </p:nvSpPr>
        <p:spPr>
          <a:xfrm>
            <a:off x="16824960" y="7863840"/>
            <a:ext cx="15179040" cy="502920"/>
          </a:xfrm>
          <a:prstGeom prst="rect">
            <a:avLst/>
          </a:prstGeom>
          <a:solidFill>
            <a:srgbClr val="E3F3E7"/>
          </a:solidFill>
          <a:ln w="19050">
            <a:solidFill>
              <a:srgbClr val="1F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962119" y="7863840"/>
            <a:ext cx="14904720" cy="502920"/>
          </a:xfrm>
          <a:prstGeom prst="rect">
            <a:avLst/>
          </a:prstGeom>
          <a:noFill/>
        </p:spPr>
        <p:txBody>
          <a:bodyPr wrap="square" anchor="ctr" lIns="45720" rIns="45720" tIns="18288" bIns="18288">
            <a:spAutoFit/>
          </a:bodyPr>
          <a:lstStyle/>
          <a:p>
            <a:pPr algn="l">
              <a:lnSpc>
                <a:spcPct val="108000"/>
              </a:lnSpc>
            </a:pPr>
            <a:r>
              <a:rPr sz="2600" b="1" i="0" dirty="0">
                <a:solidFill>
                  <a:srgbClr val="1F7A3D"/>
                </a:solidFill>
                <a:latin typeface="Calibri"/>
                <a:ea typeface="Calibri"/>
                <a:cs typeface="Calibri"/>
              </a:rPr>
              <a:t>Goal 1: Imperceptibility</a:t>
            </a:r>
          </a:p>
        </p:txBody>
      </p:sp>
      <p:sp>
        <p:nvSpPr>
          <p:cNvPr id="26" name="Rounded Rectangle 25"/>
          <p:cNvSpPr/>
          <p:nvPr/>
        </p:nvSpPr>
        <p:spPr>
          <a:xfrm>
            <a:off x="17661635" y="8458200"/>
            <a:ext cx="2834640" cy="1234440"/>
          </a:xfrm>
          <a:prstGeom prst="roundRect">
            <a:avLst/>
          </a:prstGeom>
          <a:solidFill>
            <a:srgbClr val="1F7A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Original
audio x</a:t>
            </a:r>
          </a:p>
        </p:txBody>
      </p:sp>
      <p:sp>
        <p:nvSpPr>
          <p:cNvPr id="27" name="Right Arrow 26"/>
          <p:cNvSpPr/>
          <p:nvPr/>
        </p:nvSpPr>
        <p:spPr>
          <a:xfrm>
            <a:off x="20606003" y="8910828"/>
            <a:ext cx="502920" cy="329184"/>
          </a:xfrm>
          <a:prstGeom prst="rightArrow">
            <a:avLst/>
          </a:prstGeom>
          <a:solidFill>
            <a:srgbClr val="1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218652" y="8458200"/>
            <a:ext cx="2834640" cy="1234440"/>
          </a:xfrm>
          <a:prstGeom prst="roundRect">
            <a:avLst/>
          </a:prstGeom>
          <a:solidFill>
            <a:srgbClr val="1F7A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Cloak
C</a:t>
            </a:r>
          </a:p>
        </p:txBody>
      </p:sp>
      <p:sp>
        <p:nvSpPr>
          <p:cNvPr id="29" name="Right Arrow 28"/>
          <p:cNvSpPr/>
          <p:nvPr/>
        </p:nvSpPr>
        <p:spPr>
          <a:xfrm>
            <a:off x="24163019" y="8910828"/>
            <a:ext cx="502920" cy="329184"/>
          </a:xfrm>
          <a:prstGeom prst="rightArrow">
            <a:avLst/>
          </a:prstGeom>
          <a:solidFill>
            <a:srgbClr val="1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775668" y="8458200"/>
            <a:ext cx="2834640" cy="1234440"/>
          </a:xfrm>
          <a:prstGeom prst="roundRect">
            <a:avLst/>
          </a:prstGeom>
          <a:solidFill>
            <a:srgbClr val="1F7A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Cloaked
C(x)</a:t>
            </a:r>
          </a:p>
        </p:txBody>
      </p:sp>
      <p:sp>
        <p:nvSpPr>
          <p:cNvPr id="31" name="Right Arrow 30"/>
          <p:cNvSpPr/>
          <p:nvPr/>
        </p:nvSpPr>
        <p:spPr>
          <a:xfrm>
            <a:off x="27720035" y="8910828"/>
            <a:ext cx="502920" cy="329184"/>
          </a:xfrm>
          <a:prstGeom prst="rightArrow">
            <a:avLst/>
          </a:prstGeom>
          <a:solidFill>
            <a:srgbClr val="1F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8332684" y="8458200"/>
            <a:ext cx="2834640" cy="1234440"/>
          </a:xfrm>
          <a:prstGeom prst="roundRect">
            <a:avLst/>
          </a:prstGeom>
          <a:solidFill>
            <a:srgbClr val="1F7A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Verifier</a:t>
            </a:r>
          </a:p>
        </p:txBody>
      </p:sp>
      <p:sp>
        <p:nvSpPr>
          <p:cNvPr id="33" name="TextBox 32"/>
          <p:cNvSpPr txBox="1"/>
          <p:nvPr/>
        </p:nvSpPr>
        <p:spPr>
          <a:xfrm>
            <a:off x="16824960" y="9875520"/>
            <a:ext cx="15179040" cy="777240"/>
          </a:xfrm>
          <a:prstGeom prst="rect">
            <a:avLst/>
          </a:prstGeom>
          <a:noFill/>
        </p:spPr>
        <p:txBody>
          <a:bodyPr wrap="square" anchor="t" lIns="45720" rIns="45720" tIns="18288" bIns="18288">
            <a:spAutoFit/>
          </a:bodyPr>
          <a:lstStyle/>
          <a:p>
            <a:pPr algn="ctr">
              <a:lnSpc>
                <a:spcPct val="100000"/>
              </a:lnSpc>
            </a:pPr>
            <a:r>
              <a:rPr sz="2400" b="0" i="1" dirty="0">
                <a:solidFill>
                  <a:srgbClr val="202020"/>
                </a:solidFill>
                <a:latin typeface="Calibri"/>
                <a:ea typeface="Calibri"/>
                <a:cs typeface="Calibri"/>
              </a:rPr>
              <a:t>A good cloak should still sound like / verify as the real speaker: C(x) ≈ x.</a:t>
            </a:r>
          </a:p>
        </p:txBody>
      </p:sp>
      <p:sp>
        <p:nvSpPr>
          <p:cNvPr id="34" name="Rectangle 33"/>
          <p:cNvSpPr/>
          <p:nvPr/>
        </p:nvSpPr>
        <p:spPr>
          <a:xfrm>
            <a:off x="16824960" y="10744200"/>
            <a:ext cx="15179040" cy="502920"/>
          </a:xfrm>
          <a:prstGeom prst="rect">
            <a:avLst/>
          </a:prstGeom>
          <a:solidFill>
            <a:srgbClr val="FBE6E6"/>
          </a:solidFill>
          <a:ln w="19050">
            <a:solidFill>
              <a:srgbClr val="B0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962119" y="10744200"/>
            <a:ext cx="14904720" cy="502920"/>
          </a:xfrm>
          <a:prstGeom prst="rect">
            <a:avLst/>
          </a:prstGeom>
          <a:noFill/>
        </p:spPr>
        <p:txBody>
          <a:bodyPr wrap="square" anchor="ctr" lIns="45720" rIns="45720" tIns="18288" bIns="18288">
            <a:spAutoFit/>
          </a:bodyPr>
          <a:lstStyle/>
          <a:p>
            <a:pPr algn="l">
              <a:lnSpc>
                <a:spcPct val="108000"/>
              </a:lnSpc>
            </a:pPr>
            <a:r>
              <a:rPr sz="2600" b="1" i="0" dirty="0">
                <a:solidFill>
                  <a:srgbClr val="B02222"/>
                </a:solidFill>
                <a:latin typeface="Calibri"/>
                <a:ea typeface="Calibri"/>
                <a:cs typeface="Calibri"/>
              </a:rPr>
              <a:t>Goal 2: Protective Efficacy</a:t>
            </a:r>
          </a:p>
        </p:txBody>
      </p:sp>
      <p:sp>
        <p:nvSpPr>
          <p:cNvPr id="36" name="Rounded Rectangle 35"/>
          <p:cNvSpPr/>
          <p:nvPr/>
        </p:nvSpPr>
        <p:spPr>
          <a:xfrm>
            <a:off x="17661635" y="11338560"/>
            <a:ext cx="2834640" cy="1234440"/>
          </a:xfrm>
          <a:prstGeom prst="roundRect">
            <a:avLst/>
          </a:prstGeom>
          <a:solidFill>
            <a:srgbClr val="B022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Cloaked
C(x)</a:t>
            </a:r>
          </a:p>
        </p:txBody>
      </p:sp>
      <p:sp>
        <p:nvSpPr>
          <p:cNvPr id="37" name="Right Arrow 36"/>
          <p:cNvSpPr/>
          <p:nvPr/>
        </p:nvSpPr>
        <p:spPr>
          <a:xfrm>
            <a:off x="20606003" y="11791188"/>
            <a:ext cx="502920" cy="329184"/>
          </a:xfrm>
          <a:prstGeom prst="rightArrow">
            <a:avLst/>
          </a:prstGeom>
          <a:solidFill>
            <a:srgbClr val="B0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1218652" y="11338560"/>
            <a:ext cx="2834640" cy="1234440"/>
          </a:xfrm>
          <a:prstGeom prst="roundRect">
            <a:avLst/>
          </a:prstGeom>
          <a:solidFill>
            <a:srgbClr val="B022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Attacker
clones (S)</a:t>
            </a:r>
          </a:p>
        </p:txBody>
      </p:sp>
      <p:sp>
        <p:nvSpPr>
          <p:cNvPr id="39" name="Right Arrow 38"/>
          <p:cNvSpPr/>
          <p:nvPr/>
        </p:nvSpPr>
        <p:spPr>
          <a:xfrm>
            <a:off x="24163019" y="11791188"/>
            <a:ext cx="502920" cy="329184"/>
          </a:xfrm>
          <a:prstGeom prst="rightArrow">
            <a:avLst/>
          </a:prstGeom>
          <a:solidFill>
            <a:srgbClr val="B0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4775668" y="11338560"/>
            <a:ext cx="2834640" cy="1234440"/>
          </a:xfrm>
          <a:prstGeom prst="roundRect">
            <a:avLst/>
          </a:prstGeom>
          <a:solidFill>
            <a:srgbClr val="B022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Clone
S(C(x))</a:t>
            </a:r>
          </a:p>
        </p:txBody>
      </p:sp>
      <p:sp>
        <p:nvSpPr>
          <p:cNvPr id="41" name="Right Arrow 40"/>
          <p:cNvSpPr/>
          <p:nvPr/>
        </p:nvSpPr>
        <p:spPr>
          <a:xfrm>
            <a:off x="27720035" y="11791188"/>
            <a:ext cx="502920" cy="329184"/>
          </a:xfrm>
          <a:prstGeom prst="rightArrow">
            <a:avLst/>
          </a:prstGeom>
          <a:solidFill>
            <a:srgbClr val="B0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8332684" y="11338560"/>
            <a:ext cx="2834640" cy="1234440"/>
          </a:xfrm>
          <a:prstGeom prst="roundRect">
            <a:avLst/>
          </a:prstGeom>
          <a:solidFill>
            <a:srgbClr val="B022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Verifier</a:t>
            </a:r>
          </a:p>
        </p:txBody>
      </p:sp>
      <p:sp>
        <p:nvSpPr>
          <p:cNvPr id="43" name="TextBox 42"/>
          <p:cNvSpPr txBox="1"/>
          <p:nvPr/>
        </p:nvSpPr>
        <p:spPr>
          <a:xfrm>
            <a:off x="16824960" y="12755880"/>
            <a:ext cx="15179040" cy="777240"/>
          </a:xfrm>
          <a:prstGeom prst="rect">
            <a:avLst/>
          </a:prstGeom>
          <a:noFill/>
        </p:spPr>
        <p:txBody>
          <a:bodyPr wrap="square" anchor="t" lIns="45720" rIns="45720" tIns="18288" bIns="18288">
            <a:spAutoFit/>
          </a:bodyPr>
          <a:lstStyle/>
          <a:p>
            <a:pPr algn="ctr">
              <a:lnSpc>
                <a:spcPct val="100000"/>
              </a:lnSpc>
            </a:pPr>
            <a:r>
              <a:rPr sz="2400" b="0" i="1" dirty="0">
                <a:solidFill>
                  <a:srgbClr val="202020"/>
                </a:solidFill>
                <a:latin typeface="Calibri"/>
                <a:ea typeface="Calibri"/>
                <a:cs typeface="Calibri"/>
              </a:rPr>
              <a:t>Security goal: the resulting clone should NOT match the real speaker: S(C(x)) ≠ x.</a:t>
            </a:r>
          </a:p>
        </p:txBody>
      </p:sp>
      <p:sp>
        <p:nvSpPr>
          <p:cNvPr id="44" name="Rectangle 43"/>
          <p:cNvSpPr/>
          <p:nvPr/>
        </p:nvSpPr>
        <p:spPr>
          <a:xfrm>
            <a:off x="16824960" y="13624560"/>
            <a:ext cx="15179040" cy="502920"/>
          </a:xfrm>
          <a:prstGeom prst="rect">
            <a:avLst/>
          </a:prstGeom>
          <a:solidFill>
            <a:srgbClr val="E4ECF7"/>
          </a:solidFill>
          <a:ln w="19050">
            <a:solidFill>
              <a:srgbClr val="1F4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962119" y="13624560"/>
            <a:ext cx="14904720" cy="502920"/>
          </a:xfrm>
          <a:prstGeom prst="rect">
            <a:avLst/>
          </a:prstGeom>
          <a:noFill/>
        </p:spPr>
        <p:txBody>
          <a:bodyPr wrap="square" anchor="ctr" lIns="45720" rIns="45720" tIns="18288" bIns="18288">
            <a:spAutoFit/>
          </a:bodyPr>
          <a:lstStyle/>
          <a:p>
            <a:pPr algn="l">
              <a:lnSpc>
                <a:spcPct val="108000"/>
              </a:lnSpc>
            </a:pPr>
            <a:r>
              <a:rPr sz="2600" b="1" i="0" dirty="0">
                <a:solidFill>
                  <a:srgbClr val="1F4E8C"/>
                </a:solidFill>
                <a:latin typeface="Calibri"/>
                <a:ea typeface="Calibri"/>
                <a:cs typeface="Calibri"/>
              </a:rPr>
              <a:t>Goal 3: Restorability</a:t>
            </a:r>
          </a:p>
        </p:txBody>
      </p:sp>
      <p:sp>
        <p:nvSpPr>
          <p:cNvPr id="46" name="Rounded Rectangle 45"/>
          <p:cNvSpPr/>
          <p:nvPr/>
        </p:nvSpPr>
        <p:spPr>
          <a:xfrm>
            <a:off x="17661635" y="14218920"/>
            <a:ext cx="2834640" cy="1234440"/>
          </a:xfrm>
          <a:prstGeom prst="roundRect">
            <a:avLst/>
          </a:prstGeom>
          <a:solidFill>
            <a:srgbClr val="1F4E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Cloaked
C(x)</a:t>
            </a:r>
          </a:p>
        </p:txBody>
      </p:sp>
      <p:sp>
        <p:nvSpPr>
          <p:cNvPr id="47" name="Right Arrow 46"/>
          <p:cNvSpPr/>
          <p:nvPr/>
        </p:nvSpPr>
        <p:spPr>
          <a:xfrm>
            <a:off x="20606003" y="14671548"/>
            <a:ext cx="502920" cy="329184"/>
          </a:xfrm>
          <a:prstGeom prst="rightArrow">
            <a:avLst/>
          </a:prstGeom>
          <a:solidFill>
            <a:srgbClr val="1F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1218652" y="14218920"/>
            <a:ext cx="2834640" cy="1234440"/>
          </a:xfrm>
          <a:prstGeom prst="roundRect">
            <a:avLst/>
          </a:prstGeom>
          <a:solidFill>
            <a:srgbClr val="1F4E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Restore
R</a:t>
            </a:r>
          </a:p>
        </p:txBody>
      </p:sp>
      <p:sp>
        <p:nvSpPr>
          <p:cNvPr id="49" name="Right Arrow 48"/>
          <p:cNvSpPr/>
          <p:nvPr/>
        </p:nvSpPr>
        <p:spPr>
          <a:xfrm>
            <a:off x="24163019" y="14671548"/>
            <a:ext cx="502920" cy="329184"/>
          </a:xfrm>
          <a:prstGeom prst="rightArrow">
            <a:avLst/>
          </a:prstGeom>
          <a:solidFill>
            <a:srgbClr val="1F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4775668" y="14218920"/>
            <a:ext cx="2834640" cy="1234440"/>
          </a:xfrm>
          <a:prstGeom prst="roundRect">
            <a:avLst/>
          </a:prstGeom>
          <a:solidFill>
            <a:srgbClr val="1F4E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Attacker
clones (S)</a:t>
            </a:r>
          </a:p>
        </p:txBody>
      </p:sp>
      <p:sp>
        <p:nvSpPr>
          <p:cNvPr id="51" name="Right Arrow 50"/>
          <p:cNvSpPr/>
          <p:nvPr/>
        </p:nvSpPr>
        <p:spPr>
          <a:xfrm>
            <a:off x="27720035" y="14671548"/>
            <a:ext cx="502920" cy="329184"/>
          </a:xfrm>
          <a:prstGeom prst="rightArrow">
            <a:avLst/>
          </a:prstGeom>
          <a:solidFill>
            <a:srgbClr val="1F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28332684" y="14218920"/>
            <a:ext cx="2834640" cy="1234440"/>
          </a:xfrm>
          <a:prstGeom prst="roundRect">
            <a:avLst/>
          </a:prstGeom>
          <a:solidFill>
            <a:srgbClr val="1F4E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1800" b="1" i="0" dirty="0">
                <a:solidFill>
                  <a:srgbClr val="FFFFFF"/>
                </a:solidFill>
                <a:latin typeface="Calibri"/>
                <a:ea typeface="Calibri"/>
                <a:cs typeface="Calibri"/>
              </a:rPr>
              <a:t>Verifier</a:t>
            </a:r>
          </a:p>
        </p:txBody>
      </p:sp>
      <p:sp>
        <p:nvSpPr>
          <p:cNvPr id="53" name="TextBox 52"/>
          <p:cNvSpPr txBox="1"/>
          <p:nvPr/>
        </p:nvSpPr>
        <p:spPr>
          <a:xfrm>
            <a:off x="16824960" y="15636240"/>
            <a:ext cx="15179040" cy="777240"/>
          </a:xfrm>
          <a:prstGeom prst="rect">
            <a:avLst/>
          </a:prstGeom>
          <a:noFill/>
        </p:spPr>
        <p:txBody>
          <a:bodyPr wrap="square" anchor="t" lIns="45720" rIns="45720" tIns="18288" bIns="18288">
            <a:spAutoFit/>
          </a:bodyPr>
          <a:lstStyle/>
          <a:p>
            <a:pPr algn="ctr">
              <a:lnSpc>
                <a:spcPct val="100000"/>
              </a:lnSpc>
            </a:pPr>
            <a:r>
              <a:rPr sz="2400" b="0" i="1" dirty="0">
                <a:solidFill>
                  <a:srgbClr val="202020"/>
                </a:solidFill>
                <a:latin typeface="Calibri"/>
                <a:ea typeface="Calibri"/>
                <a:cs typeface="Calibri"/>
              </a:rPr>
              <a:t>Adaptive-attacker goal: if restoration + cloning matches the real speaker again, restoration succeeded: S(R(C(x))) ≈ x.</a:t>
            </a:r>
          </a:p>
        </p:txBody>
      </p:sp>
      <p:sp>
        <p:nvSpPr>
          <p:cNvPr id="54" name="Rectangle 53"/>
          <p:cNvSpPr/>
          <p:nvPr/>
        </p:nvSpPr>
        <p:spPr>
          <a:xfrm>
            <a:off x="16824960" y="1650492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962119" y="1650492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6.  Key Results</a:t>
            </a:r>
          </a:p>
        </p:txBody>
      </p:sp>
      <p:graphicFrame>
        <p:nvGraphicFramePr>
          <p:cNvPr id="56" name="Table 55"/>
          <p:cNvGraphicFramePr>
            <a:graphicFrameLocks noGrp="1"/>
          </p:cNvGraphicFramePr>
          <p:nvPr/>
        </p:nvGraphicFramePr>
        <p:xfrm>
          <a:off x="16824960" y="17510760"/>
          <a:ext cx="15179040" cy="6355080"/>
        </p:xfrm>
        <a:graphic>
          <a:graphicData uri="http://schemas.openxmlformats.org/drawingml/2006/table">
            <a:tbl>
              <a:tblPr firstRow="1" bandRow="1">
                <a:tableStyleId>{5C22544A-7EE6-4342-B048-85BDC9FD1C3A}</a:tableStyleId>
              </a:tblPr>
              <a:tblGrid>
                <a:gridCol w="3291840"/>
                <a:gridCol w="2651760"/>
                <a:gridCol w="3291840"/>
                <a:gridCol w="2834640"/>
                <a:gridCol w="3108960"/>
              </a:tblGrid>
              <a:tr h="868680">
                <a:tc>
                  <a:txBody>
                    <a:bodyPr wrap="square"/>
                    <a:lstStyle/>
                    <a:p>
                      <a:pPr algn="l"/>
                      <a:r>
                        <a:rPr sz="2400" b="1" i="0" dirty="0">
                          <a:solidFill>
                            <a:srgbClr val="FFFFFF"/>
                          </a:solidFill>
                          <a:latin typeface="Calibri"/>
                          <a:ea typeface="Calibri"/>
                          <a:cs typeface="Calibri"/>
                        </a:rPr>
                        <a:t>Technique</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Imperceptibility
EER</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Quality
STOI/PESQ/SI-SDR</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Protective Efficacy
(relative EER ↑)</a:t>
                      </a:r>
                    </a:p>
                  </a:txBody>
                  <a:tcPr marL="73152" marR="73152" marT="36576" marB="36576" anchor="ctr">
                    <a:solidFill>
                      <a:srgbClr val="161E33"/>
                    </a:solidFill>
                  </a:tcPr>
                </a:tc>
                <a:tc>
                  <a:txBody>
                    <a:bodyPr wrap="square"/>
                    <a:lstStyle/>
                    <a:p>
                      <a:pPr algn="l"/>
                      <a:r>
                        <a:rPr sz="2400" b="1" i="0" dirty="0">
                          <a:solidFill>
                            <a:srgbClr val="FFFFFF"/>
                          </a:solidFill>
                          <a:latin typeface="Calibri"/>
                          <a:ea typeface="Calibri"/>
                          <a:cs typeface="Calibri"/>
                        </a:rPr>
                        <a:t>Restoration
(full reversals)</a:t>
                      </a:r>
                    </a:p>
                  </a:txBody>
                  <a:tcPr marL="73152" marR="73152" marT="36576" marB="36576" anchor="ctr">
                    <a:solidFill>
                      <a:srgbClr val="161E33"/>
                    </a:solidFill>
                  </a:tcPr>
                </a:tc>
              </a:tr>
              <a:tr h="1234440">
                <a:tc>
                  <a:txBody>
                    <a:bodyPr wrap="square"/>
                    <a:lstStyle/>
                    <a:p>
                      <a:pPr algn="l"/>
                      <a:r>
                        <a:rPr sz="2400" b="0" i="0" dirty="0">
                          <a:solidFill>
                            <a:srgbClr val="202020"/>
                          </a:solidFill>
                          <a:latin typeface="Calibri"/>
                          <a:ea typeface="Calibri"/>
                          <a:cs typeface="Calibri"/>
                        </a:rPr>
                        <a:t>POP</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 0.16%</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0.971 / 2.92 / +16.3 dB</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SV2TTS 2–11%
Seed-VC 5–15%
F5-TTS 14–51%</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0 / 48</a:t>
                      </a:r>
                    </a:p>
                  </a:txBody>
                  <a:tcPr marL="73152" marR="73152" marT="36576" marB="36576" anchor="ctr">
                    <a:solidFill>
                      <a:srgbClr val="FFFFFF"/>
                    </a:solidFill>
                  </a:tcPr>
                </a:tc>
              </a:tr>
              <a:tr h="1234440">
                <a:tc>
                  <a:txBody>
                    <a:bodyPr wrap="square"/>
                    <a:lstStyle/>
                    <a:p>
                      <a:pPr algn="l"/>
                      <a:r>
                        <a:rPr sz="2400" b="0" i="0" dirty="0">
                          <a:solidFill>
                            <a:srgbClr val="202020"/>
                          </a:solidFill>
                          <a:latin typeface="Calibri"/>
                          <a:ea typeface="Calibri"/>
                          <a:cs typeface="Calibri"/>
                        </a:rPr>
                        <a:t>attack-vc</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 2.1%</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0.547 / 3.58 / −34.0 dB</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SV2TTS 2–16%
Seed-VC 2–6%
F5-TTS 10–26%</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1 / 48
(isolated)</a:t>
                      </a:r>
                    </a:p>
                  </a:txBody>
                  <a:tcPr marL="73152" marR="73152" marT="36576" marB="36576" anchor="ctr">
                    <a:solidFill>
                      <a:srgbClr val="F1F1F1"/>
                    </a:solidFill>
                  </a:tcPr>
                </a:tc>
              </a:tr>
              <a:tr h="1417320">
                <a:tc>
                  <a:txBody>
                    <a:bodyPr wrap="square"/>
                    <a:lstStyle/>
                    <a:p>
                      <a:pPr algn="l"/>
                      <a:r>
                        <a:rPr sz="2400" b="0" i="0" dirty="0">
                          <a:solidFill>
                            <a:srgbClr val="202020"/>
                          </a:solidFill>
                          <a:latin typeface="Calibri"/>
                          <a:ea typeface="Calibri"/>
                          <a:cs typeface="Calibri"/>
                        </a:rPr>
                        <a:t>ProtectYourAudio</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 2.1%</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0.941 / 3.48 / −25.4 dB</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SV2TTS 16–37%
Seed-VC 15–100%
F5-TTS 62–151%</a:t>
                      </a:r>
                    </a:p>
                  </a:txBody>
                  <a:tcPr marL="73152" marR="73152" marT="36576" marB="36576" anchor="ctr">
                    <a:solidFill>
                      <a:srgbClr val="FFFFFF"/>
                    </a:solidFill>
                  </a:tcPr>
                </a:tc>
                <a:tc>
                  <a:txBody>
                    <a:bodyPr wrap="square"/>
                    <a:lstStyle/>
                    <a:p>
                      <a:pPr algn="l"/>
                      <a:r>
                        <a:rPr sz="2400" b="0" i="0" dirty="0">
                          <a:solidFill>
                            <a:srgbClr val="202020"/>
                          </a:solidFill>
                          <a:latin typeface="Calibri"/>
                          <a:ea typeface="Calibri"/>
                          <a:cs typeface="Calibri"/>
                        </a:rPr>
                        <a:t>[in progress —
results incoming]</a:t>
                      </a:r>
                    </a:p>
                  </a:txBody>
                  <a:tcPr marL="73152" marR="73152" marT="36576" marB="36576" anchor="ctr">
                    <a:solidFill>
                      <a:srgbClr val="FFFFFF"/>
                    </a:solidFill>
                  </a:tcPr>
                </a:tc>
              </a:tr>
              <a:tr h="1600200">
                <a:tc>
                  <a:txBody>
                    <a:bodyPr wrap="square"/>
                    <a:lstStyle/>
                    <a:p>
                      <a:pPr algn="l"/>
                      <a:r>
                        <a:rPr sz="2400" b="0" i="0" dirty="0">
                          <a:solidFill>
                            <a:srgbClr val="202020"/>
                          </a:solidFill>
                          <a:latin typeface="Calibri"/>
                          <a:ea typeface="Calibri"/>
                          <a:cs typeface="Calibri"/>
                        </a:rPr>
                        <a:t>AntiFake</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22–66%
(fails)</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0.703 / 1.46 / +1.9 dB</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SV2TTS 144–438%
Seed-VC 117–558%
F5-TTS 229–2,202%</a:t>
                      </a:r>
                    </a:p>
                  </a:txBody>
                  <a:tcPr marL="73152" marR="73152" marT="36576" marB="36576" anchor="ctr">
                    <a:solidFill>
                      <a:srgbClr val="F1F1F1"/>
                    </a:solidFill>
                  </a:tcPr>
                </a:tc>
                <a:tc>
                  <a:txBody>
                    <a:bodyPr wrap="square"/>
                    <a:lstStyle/>
                    <a:p>
                      <a:pPr algn="l"/>
                      <a:r>
                        <a:rPr sz="2400" b="0" i="0" dirty="0">
                          <a:solidFill>
                            <a:srgbClr val="202020"/>
                          </a:solidFill>
                          <a:latin typeface="Calibri"/>
                          <a:ea typeface="Calibri"/>
                          <a:cs typeface="Calibri"/>
                        </a:rPr>
                        <a:t>12 / 47</a:t>
                      </a:r>
                    </a:p>
                  </a:txBody>
                  <a:tcPr marL="73152" marR="73152" marT="36576" marB="36576" anchor="ctr">
                    <a:solidFill>
                      <a:srgbClr val="F1F1F1"/>
                    </a:solidFill>
                  </a:tcPr>
                </a:tc>
              </a:tr>
            </a:tbl>
          </a:graphicData>
        </a:graphic>
      </p:graphicFrame>
      <p:sp>
        <p:nvSpPr>
          <p:cNvPr id="57" name="TextBox 56"/>
          <p:cNvSpPr txBox="1"/>
          <p:nvPr/>
        </p:nvSpPr>
        <p:spPr>
          <a:xfrm>
            <a:off x="16824960" y="24185880"/>
            <a:ext cx="15179040" cy="3840480"/>
          </a:xfrm>
          <a:prstGeom prst="rect">
            <a:avLst/>
          </a:prstGeom>
          <a:noFill/>
        </p:spPr>
        <p:txBody>
          <a:bodyPr wrap="square" lIns="45720" rIns="45720" tIns="18288" bIns="18288">
            <a:spAutoFit/>
          </a:bodyPr>
          <a:lstStyle/>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POP, attack-vc, and ProtectYourAudio are all near-perfectly imperceptible (EER ≤ 2.1%); AntiFake's decoy-target attack is not budget-constrained and fails imperceptibility outright.</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POP and attack-vc protect only marginally against SV2TTS/Seed-VC (mostly ≤ 16% relative EER) and more clearly against F5-TTS. AntiFake protects strongly against all three systems, at the cost of being audible.</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ProtectYourAudio matches POP/attack-vc's imperceptibility while protecting measurably more broadly and consistently across all three systems — imperceptibility and cross-system protection are not as sharply opposed as POP/attack-vc alone would suggest.</a:t>
            </a:r>
          </a:p>
        </p:txBody>
      </p:sp>
      <p:sp>
        <p:nvSpPr>
          <p:cNvPr id="58" name="Rectangle 57"/>
          <p:cNvSpPr/>
          <p:nvPr/>
        </p:nvSpPr>
        <p:spPr>
          <a:xfrm>
            <a:off x="16824960" y="2811780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6962119" y="2811780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7.  Restoration Study &amp; Conclusion</a:t>
            </a:r>
          </a:p>
        </p:txBody>
      </p:sp>
      <p:sp>
        <p:nvSpPr>
          <p:cNvPr id="60" name="TextBox 59"/>
          <p:cNvSpPr txBox="1"/>
          <p:nvPr/>
        </p:nvSpPr>
        <p:spPr>
          <a:xfrm>
            <a:off x="16824960" y="29123640"/>
            <a:ext cx="15179040" cy="7315200"/>
          </a:xfrm>
          <a:prstGeom prst="rect">
            <a:avLst/>
          </a:prstGeom>
          <a:noFill/>
        </p:spPr>
        <p:txBody>
          <a:bodyPr wrap="square" lIns="45720" rIns="45720" tIns="18288" bIns="18288">
            <a:spAutoFit/>
          </a:bodyPr>
          <a:lstStyle/>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Ten generic, cloak-agnostic restoration techniques (filtering, resampling, quantization, spectral subtraction, simulated re-recording, ensemble averaging, …) applied before cloning, tested with paired cluster-bootstrap significance on matched clips — POP and attack-vc: 48 (technique × downstream system) combinations each; AntiFake: 47. ProtectYourAudio: in progress, results incoming.</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POP: 0/48 combinations fully reversed; attack-vc: 1/48 (an isolated F5-TTS case) — most restoration attempts leave the attacker measurably worse off than doing nothing.</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AntiFake: 12/47 combinations show a full, statistically significant reversal (all three verifiers agree) and 22 more show a partial reversal — restoration is a real threat to AntiFake specifically, unlike POP/attack-vc.</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Demographic disparities in protection are largely inherited from the downstream cloning/verification pipeline itself, not introduced by the cloaks — except AntiFake, whose decoy attack couples imperceptibility failure directly to protection strength.</a:t>
            </a:r>
          </a:p>
          <a:p>
            <a:pPr algn="l">
              <a:lnSpc>
                <a:spcPct val="105000"/>
              </a:lnSpc>
              <a:spcAft>
                <a:spcPts val="1000"/>
              </a:spcAft>
            </a:pPr>
            <a:r>
              <a:rPr sz="3200" b="1" i="0" dirty="0">
                <a:solidFill>
                  <a:srgbClr val="C8102E"/>
                </a:solidFill>
                <a:latin typeface="Calibri"/>
                <a:ea typeface="Calibri"/>
                <a:cs typeface="Calibri"/>
              </a:rPr>
              <a:t>•  </a:t>
            </a:r>
            <a:r>
              <a:rPr sz="3200" b="0" i="0" dirty="0">
                <a:solidFill>
                  <a:srgbClr val="202020"/>
                </a:solidFill>
                <a:latin typeface="Calibri"/>
                <a:ea typeface="Calibri"/>
                <a:cs typeface="Calibri"/>
              </a:rPr>
              <a:t>Conclusion: a discrete, budget-constrained perturbation search (ProtectYourAudio) can generalize across downstream cloning systems better than a continuous perturbation of similar imperceptibility, and resists restoration far better than AntiFake's decoy attack — a distinction future cloak designs may be able to exploit deliberately.</a:t>
            </a:r>
          </a:p>
        </p:txBody>
      </p:sp>
      <p:sp>
        <p:nvSpPr>
          <p:cNvPr id="61" name="Rectangle 60"/>
          <p:cNvSpPr/>
          <p:nvPr/>
        </p:nvSpPr>
        <p:spPr>
          <a:xfrm>
            <a:off x="914400" y="35021520"/>
            <a:ext cx="3108960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14400" y="3529584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3529584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Acknowledgments</a:t>
            </a:r>
          </a:p>
        </p:txBody>
      </p:sp>
      <p:sp>
        <p:nvSpPr>
          <p:cNvPr id="64" name="TextBox 63"/>
          <p:cNvSpPr txBox="1"/>
          <p:nvPr/>
        </p:nvSpPr>
        <p:spPr>
          <a:xfrm>
            <a:off x="914400" y="36301680"/>
            <a:ext cx="15179040" cy="1188720"/>
          </a:xfrm>
          <a:prstGeom prst="rect">
            <a:avLst/>
          </a:prstGeom>
          <a:noFill/>
        </p:spPr>
        <p:txBody>
          <a:bodyPr wrap="square" anchor="t" lIns="45720" rIns="45720" tIns="18288" bIns="18288">
            <a:spAutoFit/>
          </a:bodyPr>
          <a:lstStyle/>
          <a:p>
            <a:pPr algn="l">
              <a:lnSpc>
                <a:spcPct val="105000"/>
              </a:lnSpc>
            </a:pPr>
            <a:r>
              <a:rPr sz="2800" b="0" i="0" dirty="0">
                <a:solidFill>
                  <a:srgbClr val="202020"/>
                </a:solidFill>
                <a:latin typeface="Calibri"/>
                <a:ea typeface="Calibri"/>
                <a:cs typeface="Calibri"/>
              </a:rPr>
              <a:t>[Funding source / sponsor name] · [Grant or award number]. Computed on shared, resource-constrained lab hardware.</a:t>
            </a:r>
          </a:p>
        </p:txBody>
      </p:sp>
      <p:sp>
        <p:nvSpPr>
          <p:cNvPr id="65" name="Rectangle 64"/>
          <p:cNvSpPr/>
          <p:nvPr/>
        </p:nvSpPr>
        <p:spPr>
          <a:xfrm>
            <a:off x="16824960" y="35295840"/>
            <a:ext cx="15179040"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6962119" y="35295840"/>
            <a:ext cx="14904720" cy="777240"/>
          </a:xfrm>
          <a:prstGeom prst="rect">
            <a:avLst/>
          </a:prstGeom>
          <a:noFill/>
        </p:spPr>
        <p:txBody>
          <a:bodyPr wrap="square" anchor="ctr" lIns="45720" rIns="45720" tIns="18288" bIns="18288">
            <a:spAutoFit/>
          </a:bodyPr>
          <a:lstStyle/>
          <a:p>
            <a:pPr algn="l">
              <a:lnSpc>
                <a:spcPct val="108000"/>
              </a:lnSpc>
            </a:pPr>
            <a:r>
              <a:rPr sz="4000" b="1" i="0" dirty="0">
                <a:solidFill>
                  <a:srgbClr val="FFFFFF"/>
                </a:solidFill>
                <a:latin typeface="Calibri"/>
                <a:ea typeface="Calibri"/>
                <a:cs typeface="Calibri"/>
              </a:rPr>
              <a:t>References</a:t>
            </a:r>
          </a:p>
        </p:txBody>
      </p:sp>
      <p:sp>
        <p:nvSpPr>
          <p:cNvPr id="67" name="TextBox 66"/>
          <p:cNvSpPr txBox="1"/>
          <p:nvPr/>
        </p:nvSpPr>
        <p:spPr>
          <a:xfrm>
            <a:off x="16824960" y="36301680"/>
            <a:ext cx="15179040" cy="2103120"/>
          </a:xfrm>
          <a:prstGeom prst="rect">
            <a:avLst/>
          </a:prstGeom>
          <a:noFill/>
        </p:spPr>
        <p:txBody>
          <a:bodyPr wrap="square" anchor="t" lIns="45720" rIns="45720" tIns="18288" bIns="18288">
            <a:spAutoFit/>
          </a:bodyPr>
          <a:lstStyle/>
          <a:p>
            <a:pPr algn="l">
              <a:lnSpc>
                <a:spcPct val="115000"/>
              </a:lnSpc>
            </a:pPr>
            <a:r>
              <a:rPr sz="2400" b="0" i="0" dirty="0">
                <a:solidFill>
                  <a:srgbClr val="202020"/>
                </a:solidFill>
                <a:latin typeface="Calibri"/>
                <a:ea typeface="Calibri"/>
                <a:cs typeface="Calibri"/>
              </a:rPr>
              <a:t>[1] Zhang et al., “Mitigating Unauthorized Speech Synthesis for Voice Protection,” ACM LAMPS, 2024.  [2] Yu et al., “AntiFake,” ACM CCS, 2023.  [3] Liu et al., “Protecting Your Voice from Speech Synthesis Attacks,” ACSAC, 2023.  [4] Huang et al., “Defending Your Voice,” IEEE SLT, 2021.</a:t>
            </a:r>
          </a:p>
        </p:txBody>
      </p:sp>
      <p:sp>
        <p:nvSpPr>
          <p:cNvPr id="68" name="Rectangle 67"/>
          <p:cNvSpPr/>
          <p:nvPr/>
        </p:nvSpPr>
        <p:spPr>
          <a:xfrm>
            <a:off x="914400" y="40599360"/>
            <a:ext cx="20116800" cy="2011680"/>
          </a:xfrm>
          <a:prstGeom prst="rect">
            <a:avLst/>
          </a:prstGeom>
          <a:solidFill>
            <a:srgbClr val="F1F1F1"/>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isu_ecpe_logo.jpeg"/>
          <p:cNvPicPr>
            <a:picLocks noChangeAspect="1"/>
          </p:cNvPicPr>
          <p:nvPr/>
        </p:nvPicPr>
        <p:blipFill>
          <a:blip r:embed="rId2"/>
          <a:stretch>
            <a:fillRect/>
          </a:stretch>
        </p:blipFill>
        <p:spPr>
          <a:xfrm>
            <a:off x="1005840" y="40690800"/>
            <a:ext cx="1828800" cy="1828800"/>
          </a:xfrm>
          <a:prstGeom prst="rect">
            <a:avLst/>
          </a:prstGeom>
        </p:spPr>
      </p:pic>
      <p:sp>
        <p:nvSpPr>
          <p:cNvPr id="70" name="TextBox 69"/>
          <p:cNvSpPr txBox="1"/>
          <p:nvPr/>
        </p:nvSpPr>
        <p:spPr>
          <a:xfrm>
            <a:off x="3017520" y="40599360"/>
            <a:ext cx="17830800" cy="2011680"/>
          </a:xfrm>
          <a:prstGeom prst="rect">
            <a:avLst/>
          </a:prstGeom>
          <a:noFill/>
        </p:spPr>
        <p:txBody>
          <a:bodyPr wrap="square" anchor="ctr" lIns="45720" rIns="45720" tIns="18288" bIns="18288">
            <a:spAutoFit/>
          </a:bodyPr>
          <a:lstStyle/>
          <a:p>
            <a:pPr algn="l">
              <a:lnSpc>
                <a:spcPct val="115000"/>
              </a:lnSpc>
            </a:pPr>
            <a:r>
              <a:rPr sz="2800" b="1" i="0" dirty="0">
                <a:solidFill>
                  <a:srgbClr val="202020"/>
                </a:solidFill>
                <a:latin typeface="Calibri"/>
                <a:ea typeface="Calibri"/>
                <a:cs typeface="Calibri"/>
              </a:rPr>
              <a:t>Iowa State University</a:t>
            </a:r>
          </a:p>
          <a:p>
            <a:pPr algn="l">
              <a:lnSpc>
                <a:spcPct val="115000"/>
              </a:lnSpc>
            </a:pPr>
            <a:r>
              <a:rPr sz="2800" b="1" i="0" dirty="0">
                <a:solidFill>
                  <a:srgbClr val="202020"/>
                </a:solidFill>
                <a:latin typeface="Calibri"/>
                <a:ea typeface="Calibri"/>
                <a:cs typeface="Calibri"/>
              </a:rPr>
              <a:t>Department of Electrical and Computer Engineering</a:t>
            </a:r>
          </a:p>
        </p:txBody>
      </p:sp>
      <p:sp>
        <p:nvSpPr>
          <p:cNvPr id="71" name="Rectangle 70"/>
          <p:cNvSpPr/>
          <p:nvPr/>
        </p:nvSpPr>
        <p:spPr>
          <a:xfrm>
            <a:off x="21396960" y="40599360"/>
            <a:ext cx="10607040" cy="201168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1579840" y="40599360"/>
            <a:ext cx="10241280" cy="2011680"/>
          </a:xfrm>
          <a:prstGeom prst="rect">
            <a:avLst/>
          </a:prstGeom>
          <a:noFill/>
        </p:spPr>
        <p:txBody>
          <a:bodyPr wrap="square" anchor="ctr" lIns="45720" rIns="45720" tIns="18288" bIns="18288">
            <a:spAutoFit/>
          </a:bodyPr>
          <a:lstStyle/>
          <a:p>
            <a:pPr algn="ctr">
              <a:lnSpc>
                <a:spcPct val="108000"/>
              </a:lnSpc>
            </a:pPr>
            <a:r>
              <a:rPr sz="2400" b="0" i="1" dirty="0">
                <a:solidFill>
                  <a:srgbClr val="9A9A9A"/>
                </a:solidFill>
                <a:latin typeface="Calibri"/>
                <a:ea typeface="Calibri"/>
                <a:cs typeface="Calibri"/>
              </a:rPr>
              <a:t>[QR code → full paper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